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9138e703-d809-a9bc-6373-e1f1abb56380}">
          <p14:sldIdLst>
            <p14:sldId id="256"/>
            <p14:sldId id="257"/>
          </p14:sldIdLst>
        </p14:section>
        <p14:section name="Why Tax Club" id="{b504e245-ffb3-a9e1-38bf-91771c15f36b}">
          <p14:sldIdLst>
            <p14:sldId id="258"/>
            <p14:sldId id="259"/>
          </p14:sldIdLst>
        </p14:section>
        <p14:section name="The platform" id="{97ca9637-aab5-fe46-98d9-57319ed98c2e}">
          <p14:sldIdLst>
            <p14:sldId id="260"/>
            <p14:sldId id="261"/>
            <p14:sldId id="262"/>
          </p14:sldIdLst>
        </p14:section>
        <p14:section name="Value to TRA" id="{113a9c9a-ef00-f4c2-7ef6-c5db4c2ebfd5}">
          <p14:sldIdLst>
            <p14:sldId id="263"/>
            <p14:sldId id="264"/>
            <p14:sldId id="265"/>
            <p14:sldId id="266"/>
          </p14:sldIdLst>
        </p14:section>
        <p14:section name="Going forward" id="{0534af78-ba28-90c4-cfd4-9a6ea7a7560f}">
          <p14:sldIdLst>
            <p14:sldId id="267"/>
            <p14:sldId id="268"/>
            <p14:sldId id="269"/>
            <p14:sldId id="27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Purpose: ask management to adopt the Tax Club platform as TRA's channel for school and university taxpayer education, and to approve the pilot. The app on the right is the real Tax Club app in Kiswahili, already running on the test server club.flux.co.tz.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whole story on one slide: why, what is ready, what TRA gains, and the decision we need today. The rest of the deck explains each point.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message: Tax Club is an investment in voluntary compliance. TRA's own Tax Club objectives are to prepare future taxpayers and tax experts, to spread tax knowledge to families, and to build the culture of demanding and issuing receipts. TRA's taxpayer education managers have publicly described a large tax education gap.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clubs already exist and regional offices already visit them, but the work is manual and invisible at national level. The platform turns each of these gaps into something TRA can manage and measure.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runs from one TRA system, so a lesson approved once appears on the website, the app and the member portal at the same time. Screens shown: the member home with the digital membership card, and the learning modules.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path every member follows. Step 1 now includes primary schools, and college and university students must give a TIN. Those without one are sent straight to TRA's online TIN registration, which widens the taxpayer base from day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Management does not lose control of the message: nothing reaches students without TRA review and approval, coordinators only see their regions, and every officer action is logged.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group gets something concrete. For TRA the main benefit is scale: a single officer can reach thousands of students through the app, instead of one school per visit.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KPI here is already captured by the platform, so progress can be reported every quarter without extra data collection. We recommend management sets year-one targets after the pilot.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CP7 priorities reported at launch include strengthening digital tax systems, widening the taxpayer base, improving e-invoicing and stamp management, deepening taxpayer engagement and investing in staff capacity, in support of National Development Vision 2050. Before presenting, replace these labels with the exact strategic objective names and numbers from the official CP7 document, so management sees the plan in its own words.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Because many members are children, safety was built in from the start, not added later. The platform is ready for review by TRA ICT Security and the Data Protection Officer.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original plan put production go-live in September 2027. The core platform is already built, so the remaining work is mainly TRA-side: acceptance testing, security review, hosting and loading real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Longer term: work with the Ministry of Education and PO-RALG to bring Tax Club into every primary and secondary school, link the TIN field to TRA's registration system so it is checked automatically, and make the national Tax Club competition an annual event, for example around Taxpayers' 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five decisions unlock the pilot. Items 1 to 3 are needed before December so testing and hosting can finish in time for the March pilot.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Offer a live demo on a phone: join as a student, open a lesson, take a quiz and show the membership card, then show the officer's statistics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Dark">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40080" y="2011680"/>
            <a:ext cx="6766560" cy="1737360"/>
          </a:xfrm>
          <a:prstGeom prst="rect">
            <a:avLst/>
          </a:prstGeom>
          <a:noFill/>
          <a:ln/>
        </p:spPr>
        <p:txBody>
          <a:bodyPr wrap="square" rtlCol="0"/>
          <a:lstStyle>
            <a:lvl1pPr algn="l" indent="0" marL="0">
              <a:buNone/>
              <a:defRPr lang="en-US" sz="4400" b="1" dirty="0">
                <a:solidFill>
                  <a:schemeClr val="bg1"/>
                </a:solidFill>
                <a:latin typeface="Arial" pitchFamily="34" charset="0"/>
                <a:ea typeface="Arial" pitchFamily="34" charset="-122"/>
                <a:cs typeface="Arial" pitchFamily="34" charset="-120"/>
              </a:defRPr>
            </a:lvl1pPr>
          </a:lstStyle>
          <a:p>
            <a:pPr algn="l" indent="0" marL="0">
              <a:buNone/>
            </a:pPr>
            <a:endParaRPr lang="en-US" sz="4400" dirty="0"/>
          </a:p>
        </p:txBody>
      </p:sp>
      <p:sp>
        <p:nvSpPr>
          <p:cNvPr id="3" name="Text 0"/>
          <p:cNvSpPr/>
          <p:nvPr>
            <p:ph idx="101" type="body" hasCustomPrompt="1"/>
          </p:nvPr>
        </p:nvSpPr>
        <p:spPr>
          <a:xfrm>
            <a:off x="640080" y="3886200"/>
            <a:ext cx="6400800" cy="1097280"/>
          </a:xfrm>
          <a:prstGeom prst="rect">
            <a:avLst/>
          </a:prstGeom>
          <a:noFill/>
          <a:ln/>
        </p:spPr>
        <p:txBody>
          <a:bodyPr wrap="square" rtlCol="0"/>
          <a:lstStyle>
            <a:lvl1pPr algn="l" indent="0" marL="0">
              <a:buNone/>
              <a:defRPr lang="en-US" sz="2000" dirty="0">
                <a:solidFill>
                  <a:schemeClr val="accent1"/>
                </a:solidFill>
              </a:defRPr>
            </a:lvl1pPr>
          </a:lstStyle>
          <a:p>
            <a:pPr algn="l" indent="0" marL="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rtlCol="0"/>
          <a:lstStyle>
            <a:lvl1pPr algn="l" indent="0" marL="0">
              <a:buNone/>
              <a:defRPr lang="en-US" sz="3200" b="1" dirty="0">
                <a:solidFill>
                  <a:schemeClr val="tx1"/>
                </a:solidFill>
                <a:latin typeface="Arial" pitchFamily="34" charset="0"/>
                <a:ea typeface="Arial" pitchFamily="34" charset="-122"/>
                <a:cs typeface="Arial" pitchFamily="34" charset="-120"/>
              </a:defRPr>
            </a:lvl1pPr>
          </a:lstStyle>
          <a:p>
            <a:pPr algn="l" indent="0" marL="0">
              <a:buNone/>
            </a:pPr>
            <a:endParaRPr lang="en-US" sz="3200" dirty="0"/>
          </a:p>
        </p:txBody>
      </p:sp>
      <p:sp>
        <p:nvSpPr>
          <p:cNvPr id="3" name="Text 0"/>
          <p:cNvSpPr/>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chemeClr val="tx2"/>
                </a:solidFill>
              </a:rPr>
              <a:t>TRA Tax Club  ·  Presentation to TRA Management</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ection Dark">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40080" y="457200"/>
            <a:ext cx="10881360" cy="822960"/>
          </a:xfrm>
          <a:prstGeom prst="rect">
            <a:avLst/>
          </a:prstGeom>
          <a:noFill/>
          <a:ln/>
        </p:spPr>
        <p:txBody>
          <a:bodyPr wrap="square" rtlCol="0"/>
          <a:lstStyle>
            <a:lvl1pPr algn="l" indent="0" marL="0">
              <a:buNone/>
              <a:defRPr lang="en-US" sz="3200" b="1" dirty="0">
                <a:solidFill>
                  <a:schemeClr val="bg1"/>
                </a:solidFill>
                <a:latin typeface="Arial" pitchFamily="34" charset="0"/>
                <a:ea typeface="Arial" pitchFamily="34" charset="-122"/>
                <a:cs typeface="Arial" pitchFamily="34" charset="-120"/>
              </a:defRPr>
            </a:lvl1pPr>
          </a:lstStyle>
          <a:p>
            <a:pPr algn="l" indent="0" marL="0">
              <a:buNone/>
            </a:pPr>
            <a:endParaRPr lang="en-US" sz="3200" dirty="0"/>
          </a:p>
        </p:txBody>
      </p:sp>
      <p:sp>
        <p:nvSpPr>
          <p:cNvPr id="3" name="Text 0"/>
          <p:cNvSpPr/>
          <p:nvPr/>
        </p:nvSpPr>
        <p:spPr>
          <a:xfrm>
            <a:off x="640080" y="6400800"/>
            <a:ext cx="7315200" cy="274320"/>
          </a:xfrm>
          <a:prstGeom prst="rect">
            <a:avLst/>
          </a:prstGeom>
          <a:noFill/>
          <a:ln/>
        </p:spPr>
        <p:txBody>
          <a:bodyPr wrap="square" lIns="0" tIns="0" rIns="0" bIns="0" rtlCol="0" anchor="ctr"/>
          <a:lstStyle/>
          <a:p>
            <a:pPr indent="0" marL="0">
              <a:buNone/>
            </a:pPr>
            <a:r>
              <a:rPr lang="en-US" sz="1000" dirty="0">
                <a:solidFill>
                  <a:schemeClr val="accent6"/>
                </a:solidFill>
              </a:rPr>
              <a:t>TRA Tax Club  ·  Presentation to TRA Management</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2.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3.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3.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slideLayout" Target="../slideLayouts/slideLayout3.xml"/><Relationship Id="rId8"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slideLayout" Target="../slideLayouts/slideLayout3.xml"/><Relationship Id="rId8"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slideLayout" Target="../slideLayouts/slideLayout3.xml"/><Relationship Id="rId8"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3.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slideLayout" Target="../slideLayouts/slideLayout3.xml"/><Relationship Id="rId8"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slideLayout" Target="../slideLayouts/slideLayout3.xml"/><Relationship Id="rId6"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3.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Logo tile"/>
          <p:cNvSpPr/>
          <p:nvPr/>
        </p:nvSpPr>
        <p:spPr>
          <a:xfrm>
            <a:off x="640080" y="731520"/>
            <a:ext cx="960120" cy="960120"/>
          </a:xfrm>
          <a:prstGeom prst="roundRect">
            <a:avLst>
              <a:gd name="adj" fmla="val 13333"/>
            </a:avLst>
          </a:prstGeom>
          <a:solidFill>
            <a:schemeClr val="bg1"/>
          </a:solidFill>
          <a:ln/>
        </p:spPr>
      </p:sp>
      <p:pic>
        <p:nvPicPr>
          <p:cNvPr id="3" name="TRA logo" descr="TRA logo">    </p:cNvPr>
          <p:cNvPicPr>
            <a:picLocks noChangeAspect="1"/>
          </p:cNvPicPr>
          <p:nvPr/>
        </p:nvPicPr>
        <p:blipFill>
          <a:blip r:embed="rId1"/>
          <a:stretch>
            <a:fillRect/>
          </a:stretch>
        </p:blipFill>
        <p:spPr>
          <a:xfrm>
            <a:off x="758952" y="804672"/>
            <a:ext cx="722376" cy="840457"/>
          </a:xfrm>
          <a:prstGeom prst="rect">
            <a:avLst/>
          </a:prstGeom>
        </p:spPr>
      </p:pic>
      <p:sp>
        <p:nvSpPr>
          <p:cNvPr id="4" name="Text 1"/>
          <p:cNvSpPr txBox="1"/>
          <p:nvPr/>
        </p:nvSpPr>
        <p:spPr>
          <a:xfrm>
            <a:off x="1783080" y="1051560"/>
            <a:ext cx="4572000" cy="365760"/>
          </a:xfrm>
          <a:prstGeom prst="rect">
            <a:avLst/>
          </a:prstGeom>
          <a:noFill/>
          <a:ln/>
        </p:spPr>
        <p:txBody>
          <a:bodyPr wrap="square" lIns="0" tIns="0" rIns="0" bIns="0" rtlCol="0" anchor="t"/>
          <a:lstStyle/>
          <a:p>
            <a:pPr indent="0" marL="0">
              <a:buNone/>
            </a:pPr>
            <a:r>
              <a:rPr lang="en-US" sz="1400" b="1" spc="200" kern="0" dirty="0">
                <a:solidFill>
                  <a:schemeClr val="accent1"/>
                </a:solidFill>
              </a:rPr>
              <a:t>TANZANIA REVENUE AUTHORITY</a:t>
            </a:r>
            <a:endParaRPr lang="en-US" sz="1400" dirty="0"/>
          </a:p>
        </p:txBody>
      </p:sp>
      <p:sp>
        <p:nvSpPr>
          <p:cNvPr id="5" name="Text 0"/>
          <p:cNvSpPr/>
          <p:nvPr>
            <p:ph idx="100" type="title" hasCustomPrompt="1"/>
          </p:nvPr>
        </p:nvSpPr>
        <p:spPr>
          <a:xfrm>
            <a:off x="640080" y="2011680"/>
            <a:ext cx="6766560" cy="1737360"/>
          </a:xfrm>
          <a:prstGeom prst="rect">
            <a:avLst/>
          </a:prstGeom>
          <a:noFill/>
          <a:ln/>
        </p:spPr>
        <p:txBody>
          <a:bodyPr wrap="square" lIns="0" tIns="0" rIns="0" bIns="0" rtlCol="0" anchor="t"/>
          <a:lstStyle/>
          <a:p>
            <a:pPr algn="l" indent="0" marL="0">
              <a:buNone/>
            </a:pPr>
            <a:r>
              <a:rPr lang="en-US" sz="4400" b="1" dirty="0">
                <a:solidFill>
                  <a:schemeClr val="bg1"/>
                </a:solidFill>
                <a:latin typeface="Arial" pitchFamily="34" charset="0"/>
                <a:ea typeface="Arial" pitchFamily="34" charset="-122"/>
                <a:cs typeface="Arial" pitchFamily="34" charset="-120"/>
              </a:rPr>
              <a:t>TRA Tax Club Digital Platform</a:t>
            </a:r>
            <a:endParaRPr lang="en-US" sz="4400" dirty="0"/>
          </a:p>
        </p:txBody>
      </p:sp>
      <p:sp>
        <p:nvSpPr>
          <p:cNvPr id="6" name="Text 0"/>
          <p:cNvSpPr/>
          <p:nvPr>
            <p:ph idx="101" type="body" hasCustomPrompt="1"/>
          </p:nvPr>
        </p:nvSpPr>
        <p:spPr>
          <a:xfrm>
            <a:off x="640080" y="3886200"/>
            <a:ext cx="6400800" cy="1097280"/>
          </a:xfrm>
          <a:prstGeom prst="rect">
            <a:avLst/>
          </a:prstGeom>
          <a:noFill/>
          <a:ln/>
        </p:spPr>
        <p:txBody>
          <a:bodyPr wrap="square" lIns="0" tIns="0" rIns="0" bIns="0" rtlCol="0" anchor="t"/>
          <a:lstStyle/>
          <a:p>
            <a:pPr algn="l" indent="0" marL="0">
              <a:buNone/>
            </a:pPr>
            <a:r>
              <a:rPr lang="en-US" sz="2000" dirty="0">
                <a:solidFill>
                  <a:schemeClr val="accent1"/>
                </a:solidFill>
              </a:rPr>
              <a:t>Building Tanzania's next generation of voluntary taxpayers, from primary school to university</a:t>
            </a:r>
            <a:endParaRPr lang="en-US" sz="2000" dirty="0"/>
          </a:p>
        </p:txBody>
      </p:sp>
      <p:sp>
        <p:nvSpPr>
          <p:cNvPr id="7" name="Text 4"/>
          <p:cNvSpPr txBox="1"/>
          <p:nvPr/>
        </p:nvSpPr>
        <p:spPr>
          <a:xfrm>
            <a:off x="640080" y="5989320"/>
            <a:ext cx="6400800" cy="365760"/>
          </a:xfrm>
          <a:prstGeom prst="rect">
            <a:avLst/>
          </a:prstGeom>
          <a:noFill/>
          <a:ln/>
        </p:spPr>
        <p:txBody>
          <a:bodyPr wrap="square" lIns="0" tIns="0" rIns="0" bIns="0" rtlCol="0" anchor="t"/>
          <a:lstStyle/>
          <a:p>
            <a:pPr indent="0" marL="0">
              <a:buNone/>
            </a:pPr>
            <a:r>
              <a:rPr lang="en-US" sz="1400" dirty="0">
                <a:solidFill>
                  <a:schemeClr val="accent6"/>
                </a:solidFill>
              </a:rPr>
              <a:t>Presentation to TRA Management  ·  October 2026</a:t>
            </a:r>
            <a:endParaRPr lang="en-US" sz="1400" dirty="0"/>
          </a:p>
        </p:txBody>
      </p:sp>
      <p:pic>
        <p:nvPicPr>
          <p:cNvPr id="8" name="Member home with membership card" descr="Member home with membership card">    </p:cNvPr>
          <p:cNvPicPr>
            <a:picLocks noChangeAspect="1"/>
          </p:cNvPicPr>
          <p:nvPr/>
        </p:nvPicPr>
        <p:blipFill>
          <a:blip r:embed="rId2"/>
          <a:stretch>
            <a:fillRect/>
          </a:stretch>
        </p:blipFill>
        <p:spPr>
          <a:xfrm>
            <a:off x="7909560" y="502920"/>
            <a:ext cx="2977673" cy="585216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algn="l" indent="0" marL="0">
              <a:buNone/>
            </a:pPr>
            <a:r>
              <a:rPr lang="en-US" sz="3200" b="1" dirty="0">
                <a:solidFill>
                  <a:schemeClr val="tx1"/>
                </a:solidFill>
                <a:latin typeface="Arial" pitchFamily="34" charset="0"/>
                <a:ea typeface="Arial" pitchFamily="34" charset="-122"/>
                <a:cs typeface="Arial" pitchFamily="34" charset="-120"/>
              </a:rPr>
              <a:t>In brief: Tax Clubs go digital, nationwide</a:t>
            </a:r>
            <a:endParaRPr lang="en-US" sz="3200" dirty="0"/>
          </a:p>
        </p:txBody>
      </p:sp>
      <p:sp>
        <p:nvSpPr>
          <p:cNvPr id="3" name="Summary card 1"/>
          <p:cNvSpPr/>
          <p:nvPr/>
        </p:nvSpPr>
        <p:spPr>
          <a:xfrm>
            <a:off x="548640" y="1463040"/>
            <a:ext cx="2615184" cy="3246120"/>
          </a:xfrm>
          <a:prstGeom prst="roundRect">
            <a:avLst>
              <a:gd name="adj" fmla="val 4196"/>
            </a:avLst>
          </a:prstGeom>
          <a:solidFill>
            <a:schemeClr val="bg2"/>
          </a:solidFill>
          <a:ln/>
        </p:spPr>
      </p:sp>
      <p:sp>
        <p:nvSpPr>
          <p:cNvPr id="4" name="Why circle"/>
          <p:cNvSpPr/>
          <p:nvPr/>
        </p:nvSpPr>
        <p:spPr>
          <a:xfrm>
            <a:off x="822960" y="1737360"/>
            <a:ext cx="640080" cy="640080"/>
          </a:xfrm>
          <a:prstGeom prst="ellipse">
            <a:avLst/>
          </a:prstGeom>
          <a:solidFill>
            <a:schemeClr val="accent1"/>
          </a:solidFill>
          <a:ln/>
        </p:spPr>
      </p:sp>
      <p:pic>
        <p:nvPicPr>
          <p:cNvPr id="5" name="Why" descr="Why">    </p:cNvPr>
          <p:cNvPicPr>
            <a:picLocks noChangeAspect="1"/>
          </p:cNvPicPr>
          <p:nvPr/>
        </p:nvPicPr>
        <p:blipFill>
          <a:blip r:embed="rId1"/>
          <a:stretch>
            <a:fillRect/>
          </a:stretch>
        </p:blipFill>
        <p:spPr>
          <a:xfrm>
            <a:off x="995782" y="1910182"/>
            <a:ext cx="294437" cy="294437"/>
          </a:xfrm>
          <a:prstGeom prst="rect">
            <a:avLst/>
          </a:prstGeom>
        </p:spPr>
      </p:pic>
      <p:sp>
        <p:nvSpPr>
          <p:cNvPr id="6" name="Text 3"/>
          <p:cNvSpPr txBox="1"/>
          <p:nvPr/>
        </p:nvSpPr>
        <p:spPr>
          <a:xfrm>
            <a:off x="822960" y="2606040"/>
            <a:ext cx="2103120" cy="457200"/>
          </a:xfrm>
          <a:prstGeom prst="rect">
            <a:avLst/>
          </a:prstGeom>
          <a:noFill/>
          <a:ln/>
        </p:spPr>
        <p:txBody>
          <a:bodyPr wrap="square" lIns="0" tIns="0" rIns="0" bIns="0" rtlCol="0" anchor="t"/>
          <a:lstStyle/>
          <a:p>
            <a:pPr indent="0" marL="0">
              <a:buNone/>
            </a:pPr>
            <a:r>
              <a:rPr lang="en-US" sz="2000" b="1" dirty="0">
                <a:solidFill>
                  <a:schemeClr val="tx1"/>
                </a:solidFill>
                <a:latin typeface="Arial" pitchFamily="34" charset="0"/>
                <a:ea typeface="Arial" pitchFamily="34" charset="-122"/>
                <a:cs typeface="Arial" pitchFamily="34" charset="-120"/>
              </a:rPr>
              <a:t>Why</a:t>
            </a:r>
            <a:endParaRPr lang="en-US" sz="2000" dirty="0"/>
          </a:p>
        </p:txBody>
      </p:sp>
      <p:sp>
        <p:nvSpPr>
          <p:cNvPr id="7" name="Text 4"/>
          <p:cNvSpPr txBox="1"/>
          <p:nvPr/>
        </p:nvSpPr>
        <p:spPr>
          <a:xfrm>
            <a:off x="822960" y="3154680"/>
            <a:ext cx="2103120" cy="2651760"/>
          </a:xfrm>
          <a:prstGeom prst="rect">
            <a:avLst/>
          </a:prstGeom>
          <a:noFill/>
          <a:ln/>
        </p:spPr>
        <p:txBody>
          <a:bodyPr wrap="square" lIns="0" tIns="0" rIns="0" bIns="0" rtlCol="0" anchor="t"/>
          <a:lstStyle/>
          <a:p>
            <a:pPr indent="0" marL="0">
              <a:buNone/>
            </a:pPr>
            <a:r>
              <a:rPr lang="en-US" sz="1500" dirty="0">
                <a:solidFill>
                  <a:schemeClr val="tx2"/>
                </a:solidFill>
              </a:rPr>
              <a:t>Tax habits form at school. Today's students are tomorrow's employees, traders and professionals, and they carry what they learn home.</a:t>
            </a:r>
            <a:endParaRPr lang="en-US" sz="1500" dirty="0"/>
          </a:p>
        </p:txBody>
      </p:sp>
      <p:sp>
        <p:nvSpPr>
          <p:cNvPr id="8" name="Summary card 2"/>
          <p:cNvSpPr/>
          <p:nvPr/>
        </p:nvSpPr>
        <p:spPr>
          <a:xfrm>
            <a:off x="3346704" y="1463040"/>
            <a:ext cx="2615184" cy="3246120"/>
          </a:xfrm>
          <a:prstGeom prst="roundRect">
            <a:avLst>
              <a:gd name="adj" fmla="val 4196"/>
            </a:avLst>
          </a:prstGeom>
          <a:solidFill>
            <a:schemeClr val="bg2"/>
          </a:solidFill>
          <a:ln/>
        </p:spPr>
      </p:sp>
      <p:sp>
        <p:nvSpPr>
          <p:cNvPr id="9" name="What is ready circle"/>
          <p:cNvSpPr/>
          <p:nvPr/>
        </p:nvSpPr>
        <p:spPr>
          <a:xfrm>
            <a:off x="3621024" y="1737360"/>
            <a:ext cx="640080" cy="640080"/>
          </a:xfrm>
          <a:prstGeom prst="ellipse">
            <a:avLst/>
          </a:prstGeom>
          <a:solidFill>
            <a:schemeClr val="accent1"/>
          </a:solidFill>
          <a:ln/>
        </p:spPr>
      </p:sp>
      <p:pic>
        <p:nvPicPr>
          <p:cNvPr id="10" name="What is ready" descr="What is ready">    </p:cNvPr>
          <p:cNvPicPr>
            <a:picLocks noChangeAspect="1"/>
          </p:cNvPicPr>
          <p:nvPr/>
        </p:nvPicPr>
        <p:blipFill>
          <a:blip r:embed="rId2"/>
          <a:stretch>
            <a:fillRect/>
          </a:stretch>
        </p:blipFill>
        <p:spPr>
          <a:xfrm>
            <a:off x="3793846" y="1910182"/>
            <a:ext cx="294437" cy="294437"/>
          </a:xfrm>
          <a:prstGeom prst="rect">
            <a:avLst/>
          </a:prstGeom>
        </p:spPr>
      </p:pic>
      <p:sp>
        <p:nvSpPr>
          <p:cNvPr id="11" name="Text 7"/>
          <p:cNvSpPr txBox="1"/>
          <p:nvPr/>
        </p:nvSpPr>
        <p:spPr>
          <a:xfrm>
            <a:off x="3621024" y="2606040"/>
            <a:ext cx="2103120" cy="457200"/>
          </a:xfrm>
          <a:prstGeom prst="rect">
            <a:avLst/>
          </a:prstGeom>
          <a:noFill/>
          <a:ln/>
        </p:spPr>
        <p:txBody>
          <a:bodyPr wrap="square" lIns="0" tIns="0" rIns="0" bIns="0" rtlCol="0" anchor="t"/>
          <a:lstStyle/>
          <a:p>
            <a:pPr indent="0" marL="0">
              <a:buNone/>
            </a:pPr>
            <a:r>
              <a:rPr lang="en-US" sz="2000" b="1" dirty="0">
                <a:solidFill>
                  <a:schemeClr val="tx1"/>
                </a:solidFill>
                <a:latin typeface="Arial" pitchFamily="34" charset="0"/>
                <a:ea typeface="Arial" pitchFamily="34" charset="-122"/>
                <a:cs typeface="Arial" pitchFamily="34" charset="-120"/>
              </a:rPr>
              <a:t>What is ready</a:t>
            </a:r>
            <a:endParaRPr lang="en-US" sz="2000" dirty="0"/>
          </a:p>
        </p:txBody>
      </p:sp>
      <p:sp>
        <p:nvSpPr>
          <p:cNvPr id="12" name="Text 8"/>
          <p:cNvSpPr txBox="1"/>
          <p:nvPr/>
        </p:nvSpPr>
        <p:spPr>
          <a:xfrm>
            <a:off x="3621024" y="3154680"/>
            <a:ext cx="2103120" cy="2651760"/>
          </a:xfrm>
          <a:prstGeom prst="rect">
            <a:avLst/>
          </a:prstGeom>
          <a:noFill/>
          <a:ln/>
        </p:spPr>
        <p:txBody>
          <a:bodyPr wrap="square" lIns="0" tIns="0" rIns="0" bIns="0" rtlCol="0" anchor="t"/>
          <a:lstStyle/>
          <a:p>
            <a:pPr indent="0" marL="0">
              <a:buNone/>
            </a:pPr>
            <a:r>
              <a:rPr lang="en-US" sz="1500" dirty="0">
                <a:solidFill>
                  <a:schemeClr val="tx2"/>
                </a:solidFill>
              </a:rPr>
              <a:t>One TRA platform for every club: website, Android and iPhone app, and an Administration Portal. Built and running on a test server.</a:t>
            </a:r>
            <a:endParaRPr lang="en-US" sz="1500" dirty="0"/>
          </a:p>
        </p:txBody>
      </p:sp>
      <p:sp>
        <p:nvSpPr>
          <p:cNvPr id="13" name="Summary card 3"/>
          <p:cNvSpPr/>
          <p:nvPr/>
        </p:nvSpPr>
        <p:spPr>
          <a:xfrm>
            <a:off x="6144768" y="1463040"/>
            <a:ext cx="2615184" cy="3246120"/>
          </a:xfrm>
          <a:prstGeom prst="roundRect">
            <a:avLst>
              <a:gd name="adj" fmla="val 4196"/>
            </a:avLst>
          </a:prstGeom>
          <a:solidFill>
            <a:schemeClr val="bg2"/>
          </a:solidFill>
          <a:ln/>
        </p:spPr>
      </p:sp>
      <p:sp>
        <p:nvSpPr>
          <p:cNvPr id="14" name="What TRA gains circle"/>
          <p:cNvSpPr/>
          <p:nvPr/>
        </p:nvSpPr>
        <p:spPr>
          <a:xfrm>
            <a:off x="6419088" y="1737360"/>
            <a:ext cx="640080" cy="640080"/>
          </a:xfrm>
          <a:prstGeom prst="ellipse">
            <a:avLst/>
          </a:prstGeom>
          <a:solidFill>
            <a:schemeClr val="accent1"/>
          </a:solidFill>
          <a:ln/>
        </p:spPr>
      </p:sp>
      <p:pic>
        <p:nvPicPr>
          <p:cNvPr id="15" name="What TRA gains" descr="What TRA gains">    </p:cNvPr>
          <p:cNvPicPr>
            <a:picLocks noChangeAspect="1"/>
          </p:cNvPicPr>
          <p:nvPr/>
        </p:nvPicPr>
        <p:blipFill>
          <a:blip r:embed="rId3"/>
          <a:stretch>
            <a:fillRect/>
          </a:stretch>
        </p:blipFill>
        <p:spPr>
          <a:xfrm>
            <a:off x="6591910" y="1910182"/>
            <a:ext cx="294437" cy="294437"/>
          </a:xfrm>
          <a:prstGeom prst="rect">
            <a:avLst/>
          </a:prstGeom>
        </p:spPr>
      </p:pic>
      <p:sp>
        <p:nvSpPr>
          <p:cNvPr id="16" name="Text 11"/>
          <p:cNvSpPr txBox="1"/>
          <p:nvPr/>
        </p:nvSpPr>
        <p:spPr>
          <a:xfrm>
            <a:off x="6419088" y="2606040"/>
            <a:ext cx="2103120" cy="457200"/>
          </a:xfrm>
          <a:prstGeom prst="rect">
            <a:avLst/>
          </a:prstGeom>
          <a:noFill/>
          <a:ln/>
        </p:spPr>
        <p:txBody>
          <a:bodyPr wrap="square" lIns="0" tIns="0" rIns="0" bIns="0" rtlCol="0" anchor="t"/>
          <a:lstStyle/>
          <a:p>
            <a:pPr indent="0" marL="0">
              <a:buNone/>
            </a:pPr>
            <a:r>
              <a:rPr lang="en-US" sz="2000" b="1" dirty="0">
                <a:solidFill>
                  <a:schemeClr val="tx1"/>
                </a:solidFill>
                <a:latin typeface="Arial" pitchFamily="34" charset="0"/>
                <a:ea typeface="Arial" pitchFamily="34" charset="-122"/>
                <a:cs typeface="Arial" pitchFamily="34" charset="-120"/>
              </a:rPr>
              <a:t>What TRA gains</a:t>
            </a:r>
            <a:endParaRPr lang="en-US" sz="2000" dirty="0"/>
          </a:p>
        </p:txBody>
      </p:sp>
      <p:sp>
        <p:nvSpPr>
          <p:cNvPr id="17" name="Text 12"/>
          <p:cNvSpPr txBox="1"/>
          <p:nvPr/>
        </p:nvSpPr>
        <p:spPr>
          <a:xfrm>
            <a:off x="6419088" y="3154680"/>
            <a:ext cx="2103120" cy="2651760"/>
          </a:xfrm>
          <a:prstGeom prst="rect">
            <a:avLst/>
          </a:prstGeom>
          <a:noFill/>
          <a:ln/>
        </p:spPr>
        <p:txBody>
          <a:bodyPr wrap="square" lIns="0" tIns="0" rIns="0" bIns="0" rtlCol="0" anchor="t"/>
          <a:lstStyle/>
          <a:p>
            <a:pPr indent="0" marL="0">
              <a:buNone/>
            </a:pPr>
            <a:r>
              <a:rPr lang="en-US" sz="1500" dirty="0">
                <a:solidFill>
                  <a:schemeClr val="tx2"/>
                </a:solidFill>
              </a:rPr>
              <a:t>A wider future taxpayer base, a receipt-demanding generation, live data on every club, and direct engagement with youth across all regions.</a:t>
            </a:r>
            <a:endParaRPr lang="en-US" sz="1500" dirty="0"/>
          </a:p>
        </p:txBody>
      </p:sp>
      <p:sp>
        <p:nvSpPr>
          <p:cNvPr id="18" name="Summary card 4"/>
          <p:cNvSpPr/>
          <p:nvPr/>
        </p:nvSpPr>
        <p:spPr>
          <a:xfrm>
            <a:off x="8942832" y="1463040"/>
            <a:ext cx="2615184" cy="3246120"/>
          </a:xfrm>
          <a:prstGeom prst="roundRect">
            <a:avLst>
              <a:gd name="adj" fmla="val 4196"/>
            </a:avLst>
          </a:prstGeom>
          <a:solidFill>
            <a:schemeClr val="bg2"/>
          </a:solidFill>
          <a:ln/>
        </p:spPr>
      </p:sp>
      <p:sp>
        <p:nvSpPr>
          <p:cNvPr id="19" name="What we ask circle"/>
          <p:cNvSpPr/>
          <p:nvPr/>
        </p:nvSpPr>
        <p:spPr>
          <a:xfrm>
            <a:off x="9217152" y="1737360"/>
            <a:ext cx="640080" cy="640080"/>
          </a:xfrm>
          <a:prstGeom prst="ellipse">
            <a:avLst/>
          </a:prstGeom>
          <a:solidFill>
            <a:schemeClr val="accent1"/>
          </a:solidFill>
          <a:ln/>
        </p:spPr>
      </p:sp>
      <p:pic>
        <p:nvPicPr>
          <p:cNvPr id="20" name="What we ask" descr="What we ask">    </p:cNvPr>
          <p:cNvPicPr>
            <a:picLocks noChangeAspect="1"/>
          </p:cNvPicPr>
          <p:nvPr/>
        </p:nvPicPr>
        <p:blipFill>
          <a:blip r:embed="rId4"/>
          <a:stretch>
            <a:fillRect/>
          </a:stretch>
        </p:blipFill>
        <p:spPr>
          <a:xfrm>
            <a:off x="9389974" y="1910182"/>
            <a:ext cx="294437" cy="294437"/>
          </a:xfrm>
          <a:prstGeom prst="rect">
            <a:avLst/>
          </a:prstGeom>
        </p:spPr>
      </p:pic>
      <p:sp>
        <p:nvSpPr>
          <p:cNvPr id="21" name="Text 15"/>
          <p:cNvSpPr txBox="1"/>
          <p:nvPr/>
        </p:nvSpPr>
        <p:spPr>
          <a:xfrm>
            <a:off x="9217152" y="2606040"/>
            <a:ext cx="2103120" cy="457200"/>
          </a:xfrm>
          <a:prstGeom prst="rect">
            <a:avLst/>
          </a:prstGeom>
          <a:noFill/>
          <a:ln/>
        </p:spPr>
        <p:txBody>
          <a:bodyPr wrap="square" lIns="0" tIns="0" rIns="0" bIns="0" rtlCol="0" anchor="t"/>
          <a:lstStyle/>
          <a:p>
            <a:pPr indent="0" marL="0">
              <a:buNone/>
            </a:pPr>
            <a:r>
              <a:rPr lang="en-US" sz="2000" b="1" dirty="0">
                <a:solidFill>
                  <a:schemeClr val="tx1"/>
                </a:solidFill>
                <a:latin typeface="Arial" pitchFamily="34" charset="0"/>
                <a:ea typeface="Arial" pitchFamily="34" charset="-122"/>
                <a:cs typeface="Arial" pitchFamily="34" charset="-120"/>
              </a:rPr>
              <a:t>What we ask</a:t>
            </a:r>
            <a:endParaRPr lang="en-US" sz="2000" dirty="0"/>
          </a:p>
        </p:txBody>
      </p:sp>
      <p:sp>
        <p:nvSpPr>
          <p:cNvPr id="22" name="Text 16"/>
          <p:cNvSpPr txBox="1"/>
          <p:nvPr/>
        </p:nvSpPr>
        <p:spPr>
          <a:xfrm>
            <a:off x="9217152" y="3154680"/>
            <a:ext cx="2103120" cy="2651760"/>
          </a:xfrm>
          <a:prstGeom prst="rect">
            <a:avLst/>
          </a:prstGeom>
          <a:noFill/>
          <a:ln/>
        </p:spPr>
        <p:txBody>
          <a:bodyPr wrap="square" lIns="0" tIns="0" rIns="0" bIns="0" rtlCol="0" anchor="t"/>
          <a:lstStyle/>
          <a:p>
            <a:pPr indent="0" marL="0">
              <a:buNone/>
            </a:pPr>
            <a:r>
              <a:rPr lang="en-US" sz="1500" dirty="0">
                <a:solidFill>
                  <a:schemeClr val="tx2"/>
                </a:solidFill>
              </a:rPr>
              <a:t>Approve a pilot with 10 institutions, name a business owner, and approve hosting on TRA infrastructure.</a:t>
            </a:r>
            <a:endParaRPr lang="en-US" sz="1500" dirty="0"/>
          </a:p>
        </p:txBody>
      </p:sp>
      <p:sp>
        <p:nvSpPr>
          <p:cNvPr id="23" name="Decision banner"/>
          <p:cNvSpPr/>
          <p:nvPr/>
        </p:nvSpPr>
        <p:spPr>
          <a:xfrm>
            <a:off x="548640" y="4983480"/>
            <a:ext cx="11064240" cy="960120"/>
          </a:xfrm>
          <a:prstGeom prst="roundRect">
            <a:avLst>
              <a:gd name="adj" fmla="val 11429"/>
            </a:avLst>
          </a:prstGeom>
          <a:solidFill>
            <a:schemeClr val="tx1"/>
          </a:solidFill>
          <a:ln/>
        </p:spPr>
      </p:sp>
      <p:sp>
        <p:nvSpPr>
          <p:cNvPr id="24" name="Text 18"/>
          <p:cNvSpPr txBox="1"/>
          <p:nvPr/>
        </p:nvSpPr>
        <p:spPr>
          <a:xfrm>
            <a:off x="868680" y="4983480"/>
            <a:ext cx="10515600" cy="960120"/>
          </a:xfrm>
          <a:prstGeom prst="rect">
            <a:avLst/>
          </a:prstGeom>
          <a:noFill/>
          <a:ln/>
        </p:spPr>
        <p:txBody>
          <a:bodyPr wrap="square" lIns="0" tIns="0" rIns="0" bIns="0" rtlCol="0" anchor="ctr"/>
          <a:lstStyle/>
          <a:p>
            <a:pPr indent="0" marL="0">
              <a:buNone/>
            </a:pPr>
            <a:r>
              <a:rPr lang="en-US" sz="2000" b="1" dirty="0">
                <a:solidFill>
                  <a:schemeClr val="accent1"/>
                </a:solidFill>
              </a:rPr>
              <a:t>Decision today: </a:t>
            </a:r>
            <a:pPr indent="0" marL="0">
              <a:buNone/>
            </a:pPr>
            <a:r>
              <a:rPr lang="en-US" sz="2000" dirty="0">
                <a:solidFill>
                  <a:schemeClr val="bg1"/>
                </a:solidFill>
              </a:rPr>
              <a:t>approve the pilot so students can use Tax Club from March 2027.</a:t>
            </a:r>
            <a:endParaRPr lang="en-US" sz="2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algn="l" indent="0" marL="0">
              <a:buNone/>
            </a:pPr>
            <a:r>
              <a:rPr lang="en-US" sz="3200" b="1" dirty="0">
                <a:solidFill>
                  <a:schemeClr val="tx1"/>
                </a:solidFill>
                <a:latin typeface="Arial" pitchFamily="34" charset="0"/>
                <a:ea typeface="Arial" pitchFamily="34" charset="-122"/>
                <a:cs typeface="Arial" pitchFamily="34" charset="-120"/>
              </a:rPr>
              <a:t>Why Tax Club: compliance starts at school</a:t>
            </a:r>
            <a:endParaRPr lang="en-US" sz="3200" dirty="0"/>
          </a:p>
        </p:txBody>
      </p:sp>
      <p:sp>
        <p:nvSpPr>
          <p:cNvPr id="3" name="Future taxpayers circle"/>
          <p:cNvSpPr/>
          <p:nvPr/>
        </p:nvSpPr>
        <p:spPr>
          <a:xfrm>
            <a:off x="548640" y="1508760"/>
            <a:ext cx="731520" cy="731520"/>
          </a:xfrm>
          <a:prstGeom prst="ellipse">
            <a:avLst/>
          </a:prstGeom>
          <a:solidFill>
            <a:schemeClr val="accent1"/>
          </a:solidFill>
          <a:ln/>
        </p:spPr>
      </p:sp>
      <p:pic>
        <p:nvPicPr>
          <p:cNvPr id="4" name="Future taxpayers" descr="Future taxpayers">    </p:cNvPr>
          <p:cNvPicPr>
            <a:picLocks noChangeAspect="1"/>
          </p:cNvPicPr>
          <p:nvPr/>
        </p:nvPicPr>
        <p:blipFill>
          <a:blip r:embed="rId1"/>
          <a:stretch>
            <a:fillRect/>
          </a:stretch>
        </p:blipFill>
        <p:spPr>
          <a:xfrm>
            <a:off x="746150" y="1706270"/>
            <a:ext cx="336499" cy="336499"/>
          </a:xfrm>
          <a:prstGeom prst="rect">
            <a:avLst/>
          </a:prstGeom>
        </p:spPr>
      </p:pic>
      <p:sp>
        <p:nvSpPr>
          <p:cNvPr id="5" name="Text 2"/>
          <p:cNvSpPr txBox="1"/>
          <p:nvPr/>
        </p:nvSpPr>
        <p:spPr>
          <a:xfrm>
            <a:off x="1508760" y="1527048"/>
            <a:ext cx="4389120" cy="411480"/>
          </a:xfrm>
          <a:prstGeom prst="rect">
            <a:avLst/>
          </a:prstGeom>
          <a:noFill/>
          <a:ln/>
        </p:spPr>
        <p:txBody>
          <a:bodyPr wrap="square" lIns="0" tIns="0" rIns="0" bIns="0" rtlCol="0" anchor="t"/>
          <a:lstStyle/>
          <a:p>
            <a:pPr indent="0" marL="0">
              <a:buNone/>
            </a:pPr>
            <a:r>
              <a:rPr lang="en-US" sz="2000" b="1" dirty="0">
                <a:solidFill>
                  <a:schemeClr val="tx1"/>
                </a:solidFill>
                <a:latin typeface="Arial" pitchFamily="34" charset="0"/>
                <a:ea typeface="Arial" pitchFamily="34" charset="-122"/>
                <a:cs typeface="Arial" pitchFamily="34" charset="-120"/>
              </a:rPr>
              <a:t>Future taxpayers</a:t>
            </a:r>
            <a:endParaRPr lang="en-US" sz="2000" dirty="0"/>
          </a:p>
        </p:txBody>
      </p:sp>
      <p:sp>
        <p:nvSpPr>
          <p:cNvPr id="6" name="Text 3"/>
          <p:cNvSpPr txBox="1"/>
          <p:nvPr/>
        </p:nvSpPr>
        <p:spPr>
          <a:xfrm>
            <a:off x="1508760" y="2011680"/>
            <a:ext cx="4389120" cy="1371600"/>
          </a:xfrm>
          <a:prstGeom prst="rect">
            <a:avLst/>
          </a:prstGeom>
          <a:noFill/>
          <a:ln/>
        </p:spPr>
        <p:txBody>
          <a:bodyPr wrap="square" lIns="0" tIns="0" rIns="0" bIns="0" rtlCol="0" anchor="t"/>
          <a:lstStyle/>
          <a:p>
            <a:pPr indent="0" marL="0">
              <a:buNone/>
            </a:pPr>
            <a:r>
              <a:rPr lang="en-US" sz="1500" dirty="0">
                <a:solidFill>
                  <a:schemeClr val="tx2"/>
                </a:solidFill>
              </a:rPr>
              <a:t>Students become employees, entrepreneurs, professionals and leaders. Shaping their attitude to tax now costs far less than enforcement later.</a:t>
            </a:r>
            <a:endParaRPr lang="en-US" sz="1500" dirty="0"/>
          </a:p>
        </p:txBody>
      </p:sp>
      <p:sp>
        <p:nvSpPr>
          <p:cNvPr id="7" name="Ambassadors at home circle"/>
          <p:cNvSpPr/>
          <p:nvPr/>
        </p:nvSpPr>
        <p:spPr>
          <a:xfrm>
            <a:off x="6172200" y="1508760"/>
            <a:ext cx="731520" cy="731520"/>
          </a:xfrm>
          <a:prstGeom prst="ellipse">
            <a:avLst/>
          </a:prstGeom>
          <a:solidFill>
            <a:schemeClr val="accent1"/>
          </a:solidFill>
          <a:ln/>
        </p:spPr>
      </p:sp>
      <p:pic>
        <p:nvPicPr>
          <p:cNvPr id="8" name="Ambassadors at home" descr="Ambassadors at home">    </p:cNvPr>
          <p:cNvPicPr>
            <a:picLocks noChangeAspect="1"/>
          </p:cNvPicPr>
          <p:nvPr/>
        </p:nvPicPr>
        <p:blipFill>
          <a:blip r:embed="rId2"/>
          <a:stretch>
            <a:fillRect/>
          </a:stretch>
        </p:blipFill>
        <p:spPr>
          <a:xfrm>
            <a:off x="6369710" y="1706270"/>
            <a:ext cx="336499" cy="336499"/>
          </a:xfrm>
          <a:prstGeom prst="rect">
            <a:avLst/>
          </a:prstGeom>
        </p:spPr>
      </p:pic>
      <p:sp>
        <p:nvSpPr>
          <p:cNvPr id="9" name="Text 5"/>
          <p:cNvSpPr txBox="1"/>
          <p:nvPr/>
        </p:nvSpPr>
        <p:spPr>
          <a:xfrm>
            <a:off x="7132320" y="1527048"/>
            <a:ext cx="4389120" cy="411480"/>
          </a:xfrm>
          <a:prstGeom prst="rect">
            <a:avLst/>
          </a:prstGeom>
          <a:noFill/>
          <a:ln/>
        </p:spPr>
        <p:txBody>
          <a:bodyPr wrap="square" lIns="0" tIns="0" rIns="0" bIns="0" rtlCol="0" anchor="t"/>
          <a:lstStyle/>
          <a:p>
            <a:pPr indent="0" marL="0">
              <a:buNone/>
            </a:pPr>
            <a:r>
              <a:rPr lang="en-US" sz="2000" b="1" dirty="0">
                <a:solidFill>
                  <a:schemeClr val="tx1"/>
                </a:solidFill>
                <a:latin typeface="Arial" pitchFamily="34" charset="0"/>
                <a:ea typeface="Arial" pitchFamily="34" charset="-122"/>
                <a:cs typeface="Arial" pitchFamily="34" charset="-120"/>
              </a:rPr>
              <a:t>Ambassadors at home</a:t>
            </a:r>
            <a:endParaRPr lang="en-US" sz="2000" dirty="0"/>
          </a:p>
        </p:txBody>
      </p:sp>
      <p:sp>
        <p:nvSpPr>
          <p:cNvPr id="10" name="Text 6"/>
          <p:cNvSpPr txBox="1"/>
          <p:nvPr/>
        </p:nvSpPr>
        <p:spPr>
          <a:xfrm>
            <a:off x="7132320" y="2011680"/>
            <a:ext cx="4389120" cy="1371600"/>
          </a:xfrm>
          <a:prstGeom prst="rect">
            <a:avLst/>
          </a:prstGeom>
          <a:noFill/>
          <a:ln/>
        </p:spPr>
        <p:txBody>
          <a:bodyPr wrap="square" lIns="0" tIns="0" rIns="0" bIns="0" rtlCol="0" anchor="t"/>
          <a:lstStyle/>
          <a:p>
            <a:pPr indent="0" marL="0">
              <a:buNone/>
            </a:pPr>
            <a:r>
              <a:rPr lang="en-US" sz="1500" dirty="0">
                <a:solidFill>
                  <a:schemeClr val="tx2"/>
                </a:solidFill>
              </a:rPr>
              <a:t>Members learn to demand and issue EFD receipts and pass the habit to classmates, parents and family businesses.</a:t>
            </a:r>
            <a:endParaRPr lang="en-US" sz="1500" dirty="0"/>
          </a:p>
        </p:txBody>
      </p:sp>
      <p:sp>
        <p:nvSpPr>
          <p:cNvPr id="11" name="Closing the education gap circle"/>
          <p:cNvSpPr/>
          <p:nvPr/>
        </p:nvSpPr>
        <p:spPr>
          <a:xfrm>
            <a:off x="548640" y="3749040"/>
            <a:ext cx="731520" cy="731520"/>
          </a:xfrm>
          <a:prstGeom prst="ellipse">
            <a:avLst/>
          </a:prstGeom>
          <a:solidFill>
            <a:schemeClr val="accent1"/>
          </a:solidFill>
          <a:ln/>
        </p:spPr>
      </p:sp>
      <p:pic>
        <p:nvPicPr>
          <p:cNvPr id="12" name="Closing the education gap" descr="Closing the education gap">    </p:cNvPr>
          <p:cNvPicPr>
            <a:picLocks noChangeAspect="1"/>
          </p:cNvPicPr>
          <p:nvPr/>
        </p:nvPicPr>
        <p:blipFill>
          <a:blip r:embed="rId3"/>
          <a:stretch>
            <a:fillRect/>
          </a:stretch>
        </p:blipFill>
        <p:spPr>
          <a:xfrm>
            <a:off x="746150" y="3946550"/>
            <a:ext cx="336499" cy="336499"/>
          </a:xfrm>
          <a:prstGeom prst="rect">
            <a:avLst/>
          </a:prstGeom>
        </p:spPr>
      </p:pic>
      <p:sp>
        <p:nvSpPr>
          <p:cNvPr id="13" name="Text 8"/>
          <p:cNvSpPr txBox="1"/>
          <p:nvPr/>
        </p:nvSpPr>
        <p:spPr>
          <a:xfrm>
            <a:off x="1508760" y="3767328"/>
            <a:ext cx="4389120" cy="411480"/>
          </a:xfrm>
          <a:prstGeom prst="rect">
            <a:avLst/>
          </a:prstGeom>
          <a:noFill/>
          <a:ln/>
        </p:spPr>
        <p:txBody>
          <a:bodyPr wrap="square" lIns="0" tIns="0" rIns="0" bIns="0" rtlCol="0" anchor="t"/>
          <a:lstStyle/>
          <a:p>
            <a:pPr indent="0" marL="0">
              <a:buNone/>
            </a:pPr>
            <a:r>
              <a:rPr lang="en-US" sz="2000" b="1" dirty="0">
                <a:solidFill>
                  <a:schemeClr val="tx1"/>
                </a:solidFill>
                <a:latin typeface="Arial" pitchFamily="34" charset="0"/>
                <a:ea typeface="Arial" pitchFamily="34" charset="-122"/>
                <a:cs typeface="Arial" pitchFamily="34" charset="-120"/>
              </a:rPr>
              <a:t>Closing the education gap</a:t>
            </a:r>
            <a:endParaRPr lang="en-US" sz="2000" dirty="0"/>
          </a:p>
        </p:txBody>
      </p:sp>
      <p:sp>
        <p:nvSpPr>
          <p:cNvPr id="14" name="Text 9"/>
          <p:cNvSpPr txBox="1"/>
          <p:nvPr/>
        </p:nvSpPr>
        <p:spPr>
          <a:xfrm>
            <a:off x="1508760" y="4251960"/>
            <a:ext cx="4389120" cy="1371600"/>
          </a:xfrm>
          <a:prstGeom prst="rect">
            <a:avLst/>
          </a:prstGeom>
          <a:noFill/>
          <a:ln/>
        </p:spPr>
        <p:txBody>
          <a:bodyPr wrap="square" lIns="0" tIns="0" rIns="0" bIns="0" rtlCol="0" anchor="t"/>
          <a:lstStyle/>
          <a:p>
            <a:pPr indent="0" marL="0">
              <a:buNone/>
            </a:pPr>
            <a:r>
              <a:rPr lang="en-US" sz="1500" dirty="0">
                <a:solidFill>
                  <a:schemeClr val="tx2"/>
                </a:solidFill>
              </a:rPr>
              <a:t>TRA itself reports a large tax-education gap. Many taxpayers still do not understand the taxes that affect their businesses.</a:t>
            </a:r>
            <a:endParaRPr lang="en-US" sz="1500" dirty="0"/>
          </a:p>
        </p:txBody>
      </p:sp>
      <p:sp>
        <p:nvSpPr>
          <p:cNvPr id="15" name="Tax builds the nation circle"/>
          <p:cNvSpPr/>
          <p:nvPr/>
        </p:nvSpPr>
        <p:spPr>
          <a:xfrm>
            <a:off x="6172200" y="3749040"/>
            <a:ext cx="731520" cy="731520"/>
          </a:xfrm>
          <a:prstGeom prst="ellipse">
            <a:avLst/>
          </a:prstGeom>
          <a:solidFill>
            <a:schemeClr val="accent1"/>
          </a:solidFill>
          <a:ln/>
        </p:spPr>
      </p:sp>
      <p:pic>
        <p:nvPicPr>
          <p:cNvPr id="16" name="Tax builds the nation" descr="Tax builds the nation">    </p:cNvPr>
          <p:cNvPicPr>
            <a:picLocks noChangeAspect="1"/>
          </p:cNvPicPr>
          <p:nvPr/>
        </p:nvPicPr>
        <p:blipFill>
          <a:blip r:embed="rId4"/>
          <a:stretch>
            <a:fillRect/>
          </a:stretch>
        </p:blipFill>
        <p:spPr>
          <a:xfrm>
            <a:off x="6369710" y="3946550"/>
            <a:ext cx="336499" cy="336499"/>
          </a:xfrm>
          <a:prstGeom prst="rect">
            <a:avLst/>
          </a:prstGeom>
        </p:spPr>
      </p:pic>
      <p:sp>
        <p:nvSpPr>
          <p:cNvPr id="17" name="Text 11"/>
          <p:cNvSpPr txBox="1"/>
          <p:nvPr/>
        </p:nvSpPr>
        <p:spPr>
          <a:xfrm>
            <a:off x="7132320" y="3767328"/>
            <a:ext cx="4389120" cy="411480"/>
          </a:xfrm>
          <a:prstGeom prst="rect">
            <a:avLst/>
          </a:prstGeom>
          <a:noFill/>
          <a:ln/>
        </p:spPr>
        <p:txBody>
          <a:bodyPr wrap="square" lIns="0" tIns="0" rIns="0" bIns="0" rtlCol="0" anchor="t"/>
          <a:lstStyle/>
          <a:p>
            <a:pPr indent="0" marL="0">
              <a:buNone/>
            </a:pPr>
            <a:r>
              <a:rPr lang="en-US" sz="2000" b="1" dirty="0">
                <a:solidFill>
                  <a:schemeClr val="tx1"/>
                </a:solidFill>
                <a:latin typeface="Arial" pitchFamily="34" charset="0"/>
                <a:ea typeface="Arial" pitchFamily="34" charset="-122"/>
                <a:cs typeface="Arial" pitchFamily="34" charset="-120"/>
              </a:rPr>
              <a:t>Tax builds the nation</a:t>
            </a:r>
            <a:endParaRPr lang="en-US" sz="2000" dirty="0"/>
          </a:p>
        </p:txBody>
      </p:sp>
      <p:sp>
        <p:nvSpPr>
          <p:cNvPr id="18" name="Text 12"/>
          <p:cNvSpPr txBox="1"/>
          <p:nvPr/>
        </p:nvSpPr>
        <p:spPr>
          <a:xfrm>
            <a:off x="7132320" y="4251960"/>
            <a:ext cx="4389120" cy="1371600"/>
          </a:xfrm>
          <a:prstGeom prst="rect">
            <a:avLst/>
          </a:prstGeom>
          <a:noFill/>
          <a:ln/>
        </p:spPr>
        <p:txBody>
          <a:bodyPr wrap="square" lIns="0" tIns="0" rIns="0" bIns="0" rtlCol="0" anchor="t"/>
          <a:lstStyle/>
          <a:p>
            <a:pPr indent="0" marL="0">
              <a:buNone/>
            </a:pPr>
            <a:r>
              <a:rPr lang="en-US" sz="1500" dirty="0">
                <a:solidFill>
                  <a:schemeClr val="tx2"/>
                </a:solidFill>
              </a:rPr>
              <a:t>Students see that taxes pay for their schools, roads and hospitals, building trust and voluntary compliance.</a:t>
            </a:r>
            <a:endParaRPr lang="en-US" sz="1500" dirty="0"/>
          </a:p>
        </p:txBody>
      </p:sp>
      <p:sp>
        <p:nvSpPr>
          <p:cNvPr id="19" name="Text 13"/>
          <p:cNvSpPr txBox="1"/>
          <p:nvPr/>
        </p:nvSpPr>
        <p:spPr>
          <a:xfrm>
            <a:off x="548640" y="5943600"/>
            <a:ext cx="10972800" cy="365760"/>
          </a:xfrm>
          <a:prstGeom prst="rect">
            <a:avLst/>
          </a:prstGeom>
          <a:noFill/>
          <a:ln/>
        </p:spPr>
        <p:txBody>
          <a:bodyPr wrap="square" lIns="0" tIns="0" rIns="0" bIns="0" rtlCol="0" anchor="t"/>
          <a:lstStyle/>
          <a:p>
            <a:pPr indent="0" marL="0">
              <a:buNone/>
            </a:pPr>
            <a:r>
              <a:rPr lang="en-US" sz="1100" i="1" dirty="0">
                <a:solidFill>
                  <a:schemeClr val="tx2"/>
                </a:solidFill>
              </a:rPr>
              <a:t>TRA established Tax Clubs in secondary schools and Tax Associations in colleges and universities to foster a culture of voluntary tax compliance (TRA Tax Club Corner).</a:t>
            </a:r>
            <a:endParaRPr lang="en-US" sz="11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algn="l" indent="0" marL="0">
              <a:buNone/>
            </a:pPr>
            <a:r>
              <a:rPr lang="en-US" sz="3200" b="1" dirty="0">
                <a:solidFill>
                  <a:schemeClr val="tx1"/>
                </a:solidFill>
                <a:latin typeface="Arial" pitchFamily="34" charset="0"/>
                <a:ea typeface="Arial" pitchFamily="34" charset="-122"/>
                <a:cs typeface="Arial" pitchFamily="34" charset="-120"/>
              </a:rPr>
              <a:t>Clubs exist, but TRA cannot see or grow them</a:t>
            </a:r>
            <a:endParaRPr lang="en-US" sz="3200" dirty="0"/>
          </a:p>
        </p:txBody>
      </p:sp>
      <p:sp>
        <p:nvSpPr>
          <p:cNvPr id="3" name="Today card"/>
          <p:cNvSpPr/>
          <p:nvPr/>
        </p:nvSpPr>
        <p:spPr>
          <a:xfrm>
            <a:off x="548640" y="1463040"/>
            <a:ext cx="5257800" cy="4572000"/>
          </a:xfrm>
          <a:prstGeom prst="roundRect">
            <a:avLst>
              <a:gd name="adj" fmla="val 2400"/>
            </a:avLst>
          </a:prstGeom>
          <a:solidFill>
            <a:schemeClr val="bg2"/>
          </a:solidFill>
          <a:ln/>
        </p:spPr>
      </p:sp>
      <p:sp>
        <p:nvSpPr>
          <p:cNvPr id="4" name="Platform card"/>
          <p:cNvSpPr/>
          <p:nvPr/>
        </p:nvSpPr>
        <p:spPr>
          <a:xfrm>
            <a:off x="6355080" y="1463040"/>
            <a:ext cx="5257800" cy="4572000"/>
          </a:xfrm>
          <a:prstGeom prst="roundRect">
            <a:avLst>
              <a:gd name="adj" fmla="val 2400"/>
            </a:avLst>
          </a:prstGeom>
          <a:solidFill>
            <a:schemeClr val="tx1"/>
          </a:solidFill>
          <a:ln/>
        </p:spPr>
      </p:sp>
      <p:sp>
        <p:nvSpPr>
          <p:cNvPr id="5" name="Text 3"/>
          <p:cNvSpPr txBox="1"/>
          <p:nvPr/>
        </p:nvSpPr>
        <p:spPr>
          <a:xfrm>
            <a:off x="868680" y="1691640"/>
            <a:ext cx="4572000" cy="457200"/>
          </a:xfrm>
          <a:prstGeom prst="rect">
            <a:avLst/>
          </a:prstGeom>
          <a:noFill/>
          <a:ln/>
        </p:spPr>
        <p:txBody>
          <a:bodyPr wrap="square" lIns="0" tIns="0" rIns="0" bIns="0" rtlCol="0" anchor="t"/>
          <a:lstStyle/>
          <a:p>
            <a:pPr indent="0" marL="0">
              <a:buNone/>
            </a:pPr>
            <a:r>
              <a:rPr lang="en-US" sz="2200" b="1" dirty="0">
                <a:solidFill>
                  <a:schemeClr val="tx1"/>
                </a:solidFill>
                <a:latin typeface="Arial" pitchFamily="34" charset="0"/>
                <a:ea typeface="Arial" pitchFamily="34" charset="-122"/>
                <a:cs typeface="Arial" pitchFamily="34" charset="-120"/>
              </a:rPr>
              <a:t>Today</a:t>
            </a:r>
            <a:endParaRPr lang="en-US" sz="2200" dirty="0"/>
          </a:p>
        </p:txBody>
      </p:sp>
      <p:sp>
        <p:nvSpPr>
          <p:cNvPr id="6" name="Text 4"/>
          <p:cNvSpPr txBox="1"/>
          <p:nvPr/>
        </p:nvSpPr>
        <p:spPr>
          <a:xfrm>
            <a:off x="6675120" y="1691640"/>
            <a:ext cx="4572000" cy="457200"/>
          </a:xfrm>
          <a:prstGeom prst="rect">
            <a:avLst/>
          </a:prstGeom>
          <a:noFill/>
          <a:ln/>
        </p:spPr>
        <p:txBody>
          <a:bodyPr wrap="square" lIns="0" tIns="0" rIns="0" bIns="0" rtlCol="0" anchor="t"/>
          <a:lstStyle/>
          <a:p>
            <a:pPr indent="0" marL="0">
              <a:buNone/>
            </a:pPr>
            <a:r>
              <a:rPr lang="en-US" sz="2200" b="1" dirty="0">
                <a:solidFill>
                  <a:schemeClr val="accent1"/>
                </a:solidFill>
                <a:latin typeface="Arial" pitchFamily="34" charset="0"/>
                <a:ea typeface="Arial" pitchFamily="34" charset="-122"/>
                <a:cs typeface="Arial" pitchFamily="34" charset="-120"/>
              </a:rPr>
              <a:t>With the Tax Club platform</a:t>
            </a:r>
            <a:endParaRPr lang="en-US" sz="2200" dirty="0"/>
          </a:p>
        </p:txBody>
      </p:sp>
      <p:pic>
        <p:nvPicPr>
          <p:cNvPr id="7" name="Today mark 1" descr="Today">    </p:cNvPr>
          <p:cNvPicPr>
            <a:picLocks noChangeAspect="1"/>
          </p:cNvPicPr>
          <p:nvPr/>
        </p:nvPicPr>
        <p:blipFill>
          <a:blip r:embed="rId1"/>
          <a:stretch>
            <a:fillRect/>
          </a:stretch>
        </p:blipFill>
        <p:spPr>
          <a:xfrm>
            <a:off x="868680" y="2377440"/>
            <a:ext cx="237744" cy="237744"/>
          </a:xfrm>
          <a:prstGeom prst="rect">
            <a:avLst/>
          </a:prstGeom>
        </p:spPr>
      </p:pic>
      <p:sp>
        <p:nvSpPr>
          <p:cNvPr id="8" name="Text 5"/>
          <p:cNvSpPr txBox="1"/>
          <p:nvPr/>
        </p:nvSpPr>
        <p:spPr>
          <a:xfrm>
            <a:off x="1234440" y="2331720"/>
            <a:ext cx="4389120" cy="548640"/>
          </a:xfrm>
          <a:prstGeom prst="rect">
            <a:avLst/>
          </a:prstGeom>
          <a:noFill/>
          <a:ln/>
        </p:spPr>
        <p:txBody>
          <a:bodyPr wrap="square" lIns="0" tIns="0" rIns="0" bIns="0" rtlCol="0" anchor="t"/>
          <a:lstStyle/>
          <a:p>
            <a:pPr indent="0" marL="0">
              <a:buNone/>
            </a:pPr>
            <a:r>
              <a:rPr lang="en-US" sz="1500" dirty="0">
                <a:solidFill>
                  <a:schemeClr val="tx2"/>
                </a:solidFill>
              </a:rPr>
              <a:t>Paper registers kept by each patron</a:t>
            </a:r>
            <a:endParaRPr lang="en-US" sz="1500" dirty="0"/>
          </a:p>
        </p:txBody>
      </p:sp>
      <p:sp>
        <p:nvSpPr>
          <p:cNvPr id="9" name="Platform mark 1"/>
          <p:cNvSpPr/>
          <p:nvPr/>
        </p:nvSpPr>
        <p:spPr>
          <a:xfrm>
            <a:off x="6675120" y="2377440"/>
            <a:ext cx="237744" cy="237744"/>
          </a:xfrm>
          <a:prstGeom prst="ellipse">
            <a:avLst/>
          </a:prstGeom>
          <a:solidFill>
            <a:schemeClr val="accent1"/>
          </a:solidFill>
          <a:ln/>
        </p:spPr>
      </p:sp>
      <p:sp>
        <p:nvSpPr>
          <p:cNvPr id="10" name="Text 7"/>
          <p:cNvSpPr txBox="1"/>
          <p:nvPr/>
        </p:nvSpPr>
        <p:spPr>
          <a:xfrm>
            <a:off x="7040880" y="2331720"/>
            <a:ext cx="4389120" cy="548640"/>
          </a:xfrm>
          <a:prstGeom prst="rect">
            <a:avLst/>
          </a:prstGeom>
          <a:noFill/>
          <a:ln/>
        </p:spPr>
        <p:txBody>
          <a:bodyPr wrap="square" lIns="0" tIns="0" rIns="0" bIns="0" rtlCol="0" anchor="t"/>
          <a:lstStyle/>
          <a:p>
            <a:pPr indent="0" marL="0">
              <a:buNone/>
            </a:pPr>
            <a:r>
              <a:rPr lang="en-US" sz="1500" dirty="0">
                <a:solidFill>
                  <a:schemeClr val="bg1"/>
                </a:solidFill>
              </a:rPr>
              <a:t>Verified digital membership and a QR membership card</a:t>
            </a:r>
            <a:endParaRPr lang="en-US" sz="1500" dirty="0"/>
          </a:p>
        </p:txBody>
      </p:sp>
      <p:pic>
        <p:nvPicPr>
          <p:cNvPr id="11" name="Today mark 2" descr="Today">    </p:cNvPr>
          <p:cNvPicPr>
            <a:picLocks noChangeAspect="1"/>
          </p:cNvPicPr>
          <p:nvPr/>
        </p:nvPicPr>
        <p:blipFill>
          <a:blip r:embed="rId2"/>
          <a:stretch>
            <a:fillRect/>
          </a:stretch>
        </p:blipFill>
        <p:spPr>
          <a:xfrm>
            <a:off x="868680" y="2980944"/>
            <a:ext cx="237744" cy="237744"/>
          </a:xfrm>
          <a:prstGeom prst="rect">
            <a:avLst/>
          </a:prstGeom>
        </p:spPr>
      </p:pic>
      <p:sp>
        <p:nvSpPr>
          <p:cNvPr id="12" name="Text 8"/>
          <p:cNvSpPr txBox="1"/>
          <p:nvPr/>
        </p:nvSpPr>
        <p:spPr>
          <a:xfrm>
            <a:off x="1234440" y="2935224"/>
            <a:ext cx="4389120" cy="548640"/>
          </a:xfrm>
          <a:prstGeom prst="rect">
            <a:avLst/>
          </a:prstGeom>
          <a:noFill/>
          <a:ln/>
        </p:spPr>
        <p:txBody>
          <a:bodyPr wrap="square" lIns="0" tIns="0" rIns="0" bIns="0" rtlCol="0" anchor="t"/>
          <a:lstStyle/>
          <a:p>
            <a:pPr indent="0" marL="0">
              <a:buNone/>
            </a:pPr>
            <a:r>
              <a:rPr lang="en-US" sz="1500" dirty="0">
                <a:solidFill>
                  <a:schemeClr val="tx2"/>
                </a:solidFill>
              </a:rPr>
              <a:t>One-off visits by regional officers</a:t>
            </a:r>
            <a:endParaRPr lang="en-US" sz="1500" dirty="0"/>
          </a:p>
        </p:txBody>
      </p:sp>
      <p:sp>
        <p:nvSpPr>
          <p:cNvPr id="13" name="Platform mark 2"/>
          <p:cNvSpPr/>
          <p:nvPr/>
        </p:nvSpPr>
        <p:spPr>
          <a:xfrm>
            <a:off x="6675120" y="2980944"/>
            <a:ext cx="237744" cy="237744"/>
          </a:xfrm>
          <a:prstGeom prst="ellipse">
            <a:avLst/>
          </a:prstGeom>
          <a:solidFill>
            <a:schemeClr val="accent1"/>
          </a:solidFill>
          <a:ln/>
        </p:spPr>
      </p:sp>
      <p:sp>
        <p:nvSpPr>
          <p:cNvPr id="14" name="Text 10"/>
          <p:cNvSpPr txBox="1"/>
          <p:nvPr/>
        </p:nvSpPr>
        <p:spPr>
          <a:xfrm>
            <a:off x="7040880" y="2935224"/>
            <a:ext cx="4389120" cy="548640"/>
          </a:xfrm>
          <a:prstGeom prst="rect">
            <a:avLst/>
          </a:prstGeom>
          <a:noFill/>
          <a:ln/>
        </p:spPr>
        <p:txBody>
          <a:bodyPr wrap="square" lIns="0" tIns="0" rIns="0" bIns="0" rtlCol="0" anchor="t"/>
          <a:lstStyle/>
          <a:p>
            <a:pPr indent="0" marL="0">
              <a:buNone/>
            </a:pPr>
            <a:r>
              <a:rPr lang="en-US" sz="1500" dirty="0">
                <a:solidFill>
                  <a:schemeClr val="bg1"/>
                </a:solidFill>
              </a:rPr>
              <a:t>Year-round lessons, quizzes and events on the phone</a:t>
            </a:r>
            <a:endParaRPr lang="en-US" sz="1500" dirty="0"/>
          </a:p>
        </p:txBody>
      </p:sp>
      <p:pic>
        <p:nvPicPr>
          <p:cNvPr id="15" name="Today mark 3" descr="Today">    </p:cNvPr>
          <p:cNvPicPr>
            <a:picLocks noChangeAspect="1"/>
          </p:cNvPicPr>
          <p:nvPr/>
        </p:nvPicPr>
        <p:blipFill>
          <a:blip r:embed="rId3"/>
          <a:stretch>
            <a:fillRect/>
          </a:stretch>
        </p:blipFill>
        <p:spPr>
          <a:xfrm>
            <a:off x="868680" y="3584448"/>
            <a:ext cx="237744" cy="237744"/>
          </a:xfrm>
          <a:prstGeom prst="rect">
            <a:avLst/>
          </a:prstGeom>
        </p:spPr>
      </p:pic>
      <p:sp>
        <p:nvSpPr>
          <p:cNvPr id="16" name="Text 11"/>
          <p:cNvSpPr txBox="1"/>
          <p:nvPr/>
        </p:nvSpPr>
        <p:spPr>
          <a:xfrm>
            <a:off x="1234440" y="3538728"/>
            <a:ext cx="4389120" cy="548640"/>
          </a:xfrm>
          <a:prstGeom prst="rect">
            <a:avLst/>
          </a:prstGeom>
          <a:noFill/>
          <a:ln/>
        </p:spPr>
        <p:txBody>
          <a:bodyPr wrap="square" lIns="0" tIns="0" rIns="0" bIns="0" rtlCol="0" anchor="t"/>
          <a:lstStyle/>
          <a:p>
            <a:pPr indent="0" marL="0">
              <a:buNone/>
            </a:pPr>
            <a:r>
              <a:rPr lang="en-US" sz="1500" dirty="0">
                <a:solidFill>
                  <a:schemeClr val="tx2"/>
                </a:solidFill>
              </a:rPr>
              <a:t>Content differs from region to region</a:t>
            </a:r>
            <a:endParaRPr lang="en-US" sz="1500" dirty="0"/>
          </a:p>
        </p:txBody>
      </p:sp>
      <p:sp>
        <p:nvSpPr>
          <p:cNvPr id="17" name="Platform mark 3"/>
          <p:cNvSpPr/>
          <p:nvPr/>
        </p:nvSpPr>
        <p:spPr>
          <a:xfrm>
            <a:off x="6675120" y="3584448"/>
            <a:ext cx="237744" cy="237744"/>
          </a:xfrm>
          <a:prstGeom prst="ellipse">
            <a:avLst/>
          </a:prstGeom>
          <a:solidFill>
            <a:schemeClr val="accent1"/>
          </a:solidFill>
          <a:ln/>
        </p:spPr>
      </p:sp>
      <p:sp>
        <p:nvSpPr>
          <p:cNvPr id="18" name="Text 13"/>
          <p:cNvSpPr txBox="1"/>
          <p:nvPr/>
        </p:nvSpPr>
        <p:spPr>
          <a:xfrm>
            <a:off x="7040880" y="3538728"/>
            <a:ext cx="4389120" cy="548640"/>
          </a:xfrm>
          <a:prstGeom prst="rect">
            <a:avLst/>
          </a:prstGeom>
          <a:noFill/>
          <a:ln/>
        </p:spPr>
        <p:txBody>
          <a:bodyPr wrap="square" lIns="0" tIns="0" rIns="0" bIns="0" rtlCol="0" anchor="t"/>
          <a:lstStyle/>
          <a:p>
            <a:pPr indent="0" marL="0">
              <a:buNone/>
            </a:pPr>
            <a:r>
              <a:rPr lang="en-US" sz="1500" dirty="0">
                <a:solidFill>
                  <a:schemeClr val="bg1"/>
                </a:solidFill>
              </a:rPr>
              <a:t>One curriculum, reviewed and approved by TRA</a:t>
            </a:r>
            <a:endParaRPr lang="en-US" sz="1500" dirty="0"/>
          </a:p>
        </p:txBody>
      </p:sp>
      <p:pic>
        <p:nvPicPr>
          <p:cNvPr id="19" name="Today mark 4" descr="Today">    </p:cNvPr>
          <p:cNvPicPr>
            <a:picLocks noChangeAspect="1"/>
          </p:cNvPicPr>
          <p:nvPr/>
        </p:nvPicPr>
        <p:blipFill>
          <a:blip r:embed="rId4"/>
          <a:stretch>
            <a:fillRect/>
          </a:stretch>
        </p:blipFill>
        <p:spPr>
          <a:xfrm>
            <a:off x="868680" y="4187952"/>
            <a:ext cx="237744" cy="237744"/>
          </a:xfrm>
          <a:prstGeom prst="rect">
            <a:avLst/>
          </a:prstGeom>
        </p:spPr>
      </p:pic>
      <p:sp>
        <p:nvSpPr>
          <p:cNvPr id="20" name="Text 14"/>
          <p:cNvSpPr txBox="1"/>
          <p:nvPr/>
        </p:nvSpPr>
        <p:spPr>
          <a:xfrm>
            <a:off x="1234440" y="4142232"/>
            <a:ext cx="4389120" cy="548640"/>
          </a:xfrm>
          <a:prstGeom prst="rect">
            <a:avLst/>
          </a:prstGeom>
          <a:noFill/>
          <a:ln/>
        </p:spPr>
        <p:txBody>
          <a:bodyPr wrap="square" lIns="0" tIns="0" rIns="0" bIns="0" rtlCol="0" anchor="t"/>
          <a:lstStyle/>
          <a:p>
            <a:pPr indent="0" marL="0">
              <a:buNone/>
            </a:pPr>
            <a:r>
              <a:rPr lang="en-US" sz="1500" dirty="0">
                <a:solidFill>
                  <a:schemeClr val="tx2"/>
                </a:solidFill>
              </a:rPr>
              <a:t>No national picture of clubs or members</a:t>
            </a:r>
            <a:endParaRPr lang="en-US" sz="1500" dirty="0"/>
          </a:p>
        </p:txBody>
      </p:sp>
      <p:sp>
        <p:nvSpPr>
          <p:cNvPr id="21" name="Platform mark 4"/>
          <p:cNvSpPr/>
          <p:nvPr/>
        </p:nvSpPr>
        <p:spPr>
          <a:xfrm>
            <a:off x="6675120" y="4187952"/>
            <a:ext cx="237744" cy="237744"/>
          </a:xfrm>
          <a:prstGeom prst="ellipse">
            <a:avLst/>
          </a:prstGeom>
          <a:solidFill>
            <a:schemeClr val="accent1"/>
          </a:solidFill>
          <a:ln/>
        </p:spPr>
      </p:sp>
      <p:sp>
        <p:nvSpPr>
          <p:cNvPr id="22" name="Text 16"/>
          <p:cNvSpPr txBox="1"/>
          <p:nvPr/>
        </p:nvSpPr>
        <p:spPr>
          <a:xfrm>
            <a:off x="7040880" y="4142232"/>
            <a:ext cx="4389120" cy="548640"/>
          </a:xfrm>
          <a:prstGeom prst="rect">
            <a:avLst/>
          </a:prstGeom>
          <a:noFill/>
          <a:ln/>
        </p:spPr>
        <p:txBody>
          <a:bodyPr wrap="square" lIns="0" tIns="0" rIns="0" bIns="0" rtlCol="0" anchor="t"/>
          <a:lstStyle/>
          <a:p>
            <a:pPr indent="0" marL="0">
              <a:buNone/>
            </a:pPr>
            <a:r>
              <a:rPr lang="en-US" sz="1500" dirty="0">
                <a:solidFill>
                  <a:schemeClr val="bg1"/>
                </a:solidFill>
              </a:rPr>
              <a:t>Live statistics by region, institution and category</a:t>
            </a:r>
            <a:endParaRPr lang="en-US" sz="1500" dirty="0"/>
          </a:p>
        </p:txBody>
      </p:sp>
      <p:pic>
        <p:nvPicPr>
          <p:cNvPr id="23" name="Today mark 5" descr="Today">    </p:cNvPr>
          <p:cNvPicPr>
            <a:picLocks noChangeAspect="1"/>
          </p:cNvPicPr>
          <p:nvPr/>
        </p:nvPicPr>
        <p:blipFill>
          <a:blip r:embed="rId5"/>
          <a:stretch>
            <a:fillRect/>
          </a:stretch>
        </p:blipFill>
        <p:spPr>
          <a:xfrm>
            <a:off x="868680" y="4791456"/>
            <a:ext cx="237744" cy="237744"/>
          </a:xfrm>
          <a:prstGeom prst="rect">
            <a:avLst/>
          </a:prstGeom>
        </p:spPr>
      </p:pic>
      <p:sp>
        <p:nvSpPr>
          <p:cNvPr id="24" name="Text 17"/>
          <p:cNvSpPr txBox="1"/>
          <p:nvPr/>
        </p:nvSpPr>
        <p:spPr>
          <a:xfrm>
            <a:off x="1234440" y="4745736"/>
            <a:ext cx="4389120" cy="548640"/>
          </a:xfrm>
          <a:prstGeom prst="rect">
            <a:avLst/>
          </a:prstGeom>
          <a:noFill/>
          <a:ln/>
        </p:spPr>
        <p:txBody>
          <a:bodyPr wrap="square" lIns="0" tIns="0" rIns="0" bIns="0" rtlCol="0" anchor="t"/>
          <a:lstStyle/>
          <a:p>
            <a:pPr indent="0" marL="0">
              <a:buNone/>
            </a:pPr>
            <a:r>
              <a:rPr lang="en-US" sz="1500" dirty="0">
                <a:solidFill>
                  <a:schemeClr val="tx2"/>
                </a:solidFill>
              </a:rPr>
              <a:t>Graduates are lost to the programme</a:t>
            </a:r>
            <a:endParaRPr lang="en-US" sz="1500" dirty="0"/>
          </a:p>
        </p:txBody>
      </p:sp>
      <p:sp>
        <p:nvSpPr>
          <p:cNvPr id="25" name="Platform mark 5"/>
          <p:cNvSpPr/>
          <p:nvPr/>
        </p:nvSpPr>
        <p:spPr>
          <a:xfrm>
            <a:off x="6675120" y="4791456"/>
            <a:ext cx="237744" cy="237744"/>
          </a:xfrm>
          <a:prstGeom prst="ellipse">
            <a:avLst/>
          </a:prstGeom>
          <a:solidFill>
            <a:schemeClr val="accent1"/>
          </a:solidFill>
          <a:ln/>
        </p:spPr>
      </p:sp>
      <p:sp>
        <p:nvSpPr>
          <p:cNvPr id="26" name="Text 19"/>
          <p:cNvSpPr txBox="1"/>
          <p:nvPr/>
        </p:nvSpPr>
        <p:spPr>
          <a:xfrm>
            <a:off x="7040880" y="4745736"/>
            <a:ext cx="4389120" cy="548640"/>
          </a:xfrm>
          <a:prstGeom prst="rect">
            <a:avLst/>
          </a:prstGeom>
          <a:noFill/>
          <a:ln/>
        </p:spPr>
        <p:txBody>
          <a:bodyPr wrap="square" lIns="0" tIns="0" rIns="0" bIns="0" rtlCol="0" anchor="t"/>
          <a:lstStyle/>
          <a:p>
            <a:pPr indent="0" marL="0">
              <a:buNone/>
            </a:pPr>
            <a:r>
              <a:rPr lang="en-US" sz="1500" dirty="0">
                <a:solidFill>
                  <a:schemeClr val="bg1"/>
                </a:solidFill>
              </a:rPr>
              <a:t>Alumni network and mentorship for new members</a:t>
            </a:r>
            <a:endParaRPr lang="en-US" sz="1500" dirty="0"/>
          </a:p>
        </p:txBody>
      </p:sp>
      <p:pic>
        <p:nvPicPr>
          <p:cNvPr id="27" name="Today mark 6" descr="Today">    </p:cNvPr>
          <p:cNvPicPr>
            <a:picLocks noChangeAspect="1"/>
          </p:cNvPicPr>
          <p:nvPr/>
        </p:nvPicPr>
        <p:blipFill>
          <a:blip r:embed="rId6"/>
          <a:stretch>
            <a:fillRect/>
          </a:stretch>
        </p:blipFill>
        <p:spPr>
          <a:xfrm>
            <a:off x="868680" y="5394960"/>
            <a:ext cx="237744" cy="237744"/>
          </a:xfrm>
          <a:prstGeom prst="rect">
            <a:avLst/>
          </a:prstGeom>
        </p:spPr>
      </p:pic>
      <p:sp>
        <p:nvSpPr>
          <p:cNvPr id="28" name="Text 20"/>
          <p:cNvSpPr txBox="1"/>
          <p:nvPr/>
        </p:nvSpPr>
        <p:spPr>
          <a:xfrm>
            <a:off x="1234440" y="5349240"/>
            <a:ext cx="4389120" cy="548640"/>
          </a:xfrm>
          <a:prstGeom prst="rect">
            <a:avLst/>
          </a:prstGeom>
          <a:noFill/>
          <a:ln/>
        </p:spPr>
        <p:txBody>
          <a:bodyPr wrap="square" lIns="0" tIns="0" rIns="0" bIns="0" rtlCol="0" anchor="t"/>
          <a:lstStyle/>
          <a:p>
            <a:pPr indent="0" marL="0">
              <a:buNone/>
            </a:pPr>
            <a:r>
              <a:rPr lang="en-US" sz="1500" dirty="0">
                <a:solidFill>
                  <a:schemeClr val="tx2"/>
                </a:solidFill>
              </a:rPr>
              <a:t>Mainly secondary schools and universities</a:t>
            </a:r>
            <a:endParaRPr lang="en-US" sz="1500" dirty="0"/>
          </a:p>
        </p:txBody>
      </p:sp>
      <p:sp>
        <p:nvSpPr>
          <p:cNvPr id="29" name="Platform mark 6"/>
          <p:cNvSpPr/>
          <p:nvPr/>
        </p:nvSpPr>
        <p:spPr>
          <a:xfrm>
            <a:off x="6675120" y="5394960"/>
            <a:ext cx="237744" cy="237744"/>
          </a:xfrm>
          <a:prstGeom prst="ellipse">
            <a:avLst/>
          </a:prstGeom>
          <a:solidFill>
            <a:schemeClr val="accent1"/>
          </a:solidFill>
          <a:ln/>
        </p:spPr>
      </p:sp>
      <p:sp>
        <p:nvSpPr>
          <p:cNvPr id="30" name="Text 22"/>
          <p:cNvSpPr txBox="1"/>
          <p:nvPr/>
        </p:nvSpPr>
        <p:spPr>
          <a:xfrm>
            <a:off x="7040880" y="5349240"/>
            <a:ext cx="4389120" cy="548640"/>
          </a:xfrm>
          <a:prstGeom prst="rect">
            <a:avLst/>
          </a:prstGeom>
          <a:noFill/>
          <a:ln/>
        </p:spPr>
        <p:txBody>
          <a:bodyPr wrap="square" lIns="0" tIns="0" rIns="0" bIns="0" rtlCol="0" anchor="t"/>
          <a:lstStyle/>
          <a:p>
            <a:pPr indent="0" marL="0">
              <a:buNone/>
            </a:pPr>
            <a:r>
              <a:rPr lang="en-US" sz="1500" dirty="0">
                <a:solidFill>
                  <a:schemeClr val="bg1"/>
                </a:solidFill>
              </a:rPr>
              <a:t>Primary school to university, in Kiswahili and English</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algn="l" indent="0" marL="0">
              <a:buNone/>
            </a:pPr>
            <a:r>
              <a:rPr lang="en-US" sz="3200" b="1" dirty="0">
                <a:solidFill>
                  <a:schemeClr val="tx1"/>
                </a:solidFill>
                <a:latin typeface="Arial" pitchFamily="34" charset="0"/>
                <a:ea typeface="Arial" pitchFamily="34" charset="-122"/>
                <a:cs typeface="Arial" pitchFamily="34" charset="-120"/>
              </a:rPr>
              <a:t>One platform, four doors, the same TRA content</a:t>
            </a:r>
            <a:endParaRPr lang="en-US" sz="3200" dirty="0"/>
          </a:p>
        </p:txBody>
      </p:sp>
      <p:sp>
        <p:nvSpPr>
          <p:cNvPr id="3" name="Public website circle"/>
          <p:cNvSpPr/>
          <p:nvPr/>
        </p:nvSpPr>
        <p:spPr>
          <a:xfrm>
            <a:off x="548640" y="1463040"/>
            <a:ext cx="640080" cy="640080"/>
          </a:xfrm>
          <a:prstGeom prst="ellipse">
            <a:avLst/>
          </a:prstGeom>
          <a:solidFill>
            <a:schemeClr val="accent1"/>
          </a:solidFill>
          <a:ln/>
        </p:spPr>
      </p:sp>
      <p:pic>
        <p:nvPicPr>
          <p:cNvPr id="4" name="Public website" descr="Public website">    </p:cNvPr>
          <p:cNvPicPr>
            <a:picLocks noChangeAspect="1"/>
          </p:cNvPicPr>
          <p:nvPr/>
        </p:nvPicPr>
        <p:blipFill>
          <a:blip r:embed="rId1"/>
          <a:stretch>
            <a:fillRect/>
          </a:stretch>
        </p:blipFill>
        <p:spPr>
          <a:xfrm>
            <a:off x="721462" y="1635862"/>
            <a:ext cx="294437" cy="294437"/>
          </a:xfrm>
          <a:prstGeom prst="rect">
            <a:avLst/>
          </a:prstGeom>
        </p:spPr>
      </p:pic>
      <p:sp>
        <p:nvSpPr>
          <p:cNvPr id="5" name="Text 2"/>
          <p:cNvSpPr txBox="1"/>
          <p:nvPr/>
        </p:nvSpPr>
        <p:spPr>
          <a:xfrm>
            <a:off x="1417320" y="1444752"/>
            <a:ext cx="4206240" cy="365760"/>
          </a:xfrm>
          <a:prstGeom prst="rect">
            <a:avLst/>
          </a:prstGeom>
          <a:noFill/>
          <a:ln/>
        </p:spPr>
        <p:txBody>
          <a:bodyPr wrap="square" lIns="0" tIns="0" rIns="0" bIns="0" rtlCol="0" anchor="t"/>
          <a:lstStyle/>
          <a:p>
            <a:pPr indent="0" marL="0">
              <a:buNone/>
            </a:pPr>
            <a:r>
              <a:rPr lang="en-US" sz="1900" b="1" dirty="0">
                <a:solidFill>
                  <a:schemeClr val="tx1"/>
                </a:solidFill>
                <a:latin typeface="Arial" pitchFamily="34" charset="0"/>
                <a:ea typeface="Arial" pitchFamily="34" charset="-122"/>
                <a:cs typeface="Arial" pitchFamily="34" charset="-120"/>
              </a:rPr>
              <a:t>Public website</a:t>
            </a:r>
            <a:endParaRPr lang="en-US" sz="1900" dirty="0"/>
          </a:p>
        </p:txBody>
      </p:sp>
      <p:sp>
        <p:nvSpPr>
          <p:cNvPr id="6" name="Text 3"/>
          <p:cNvSpPr txBox="1"/>
          <p:nvPr/>
        </p:nvSpPr>
        <p:spPr>
          <a:xfrm>
            <a:off x="1417320" y="1847088"/>
            <a:ext cx="4206240" cy="594360"/>
          </a:xfrm>
          <a:prstGeom prst="rect">
            <a:avLst/>
          </a:prstGeom>
          <a:noFill/>
          <a:ln/>
        </p:spPr>
        <p:txBody>
          <a:bodyPr wrap="square" lIns="0" tIns="0" rIns="0" bIns="0" rtlCol="0" anchor="t"/>
          <a:lstStyle/>
          <a:p>
            <a:pPr indent="0" marL="0">
              <a:buNone/>
            </a:pPr>
            <a:r>
              <a:rPr lang="en-US" sz="1500" dirty="0">
                <a:solidFill>
                  <a:schemeClr val="tx2"/>
                </a:solidFill>
              </a:rPr>
              <a:t>Lessons, events and answers anyone can read. Found on Google.</a:t>
            </a:r>
            <a:endParaRPr lang="en-US" sz="1500" dirty="0"/>
          </a:p>
        </p:txBody>
      </p:sp>
      <p:sp>
        <p:nvSpPr>
          <p:cNvPr id="7" name="Android &amp; iPhone app circle"/>
          <p:cNvSpPr/>
          <p:nvPr/>
        </p:nvSpPr>
        <p:spPr>
          <a:xfrm>
            <a:off x="548640" y="2560320"/>
            <a:ext cx="640080" cy="640080"/>
          </a:xfrm>
          <a:prstGeom prst="ellipse">
            <a:avLst/>
          </a:prstGeom>
          <a:solidFill>
            <a:schemeClr val="accent1"/>
          </a:solidFill>
          <a:ln/>
        </p:spPr>
      </p:sp>
      <p:pic>
        <p:nvPicPr>
          <p:cNvPr id="8" name="Android &amp; iPhone app" descr="Android &amp; iPhone app">    </p:cNvPr>
          <p:cNvPicPr>
            <a:picLocks noChangeAspect="1"/>
          </p:cNvPicPr>
          <p:nvPr/>
        </p:nvPicPr>
        <p:blipFill>
          <a:blip r:embed="rId2"/>
          <a:stretch>
            <a:fillRect/>
          </a:stretch>
        </p:blipFill>
        <p:spPr>
          <a:xfrm>
            <a:off x="721462" y="2733142"/>
            <a:ext cx="294437" cy="294437"/>
          </a:xfrm>
          <a:prstGeom prst="rect">
            <a:avLst/>
          </a:prstGeom>
        </p:spPr>
      </p:pic>
      <p:sp>
        <p:nvSpPr>
          <p:cNvPr id="9" name="Text 5"/>
          <p:cNvSpPr txBox="1"/>
          <p:nvPr/>
        </p:nvSpPr>
        <p:spPr>
          <a:xfrm>
            <a:off x="1417320" y="2542032"/>
            <a:ext cx="4206240" cy="365760"/>
          </a:xfrm>
          <a:prstGeom prst="rect">
            <a:avLst/>
          </a:prstGeom>
          <a:noFill/>
          <a:ln/>
        </p:spPr>
        <p:txBody>
          <a:bodyPr wrap="square" lIns="0" tIns="0" rIns="0" bIns="0" rtlCol="0" anchor="t"/>
          <a:lstStyle/>
          <a:p>
            <a:pPr indent="0" marL="0">
              <a:buNone/>
            </a:pPr>
            <a:r>
              <a:rPr lang="en-US" sz="1900" b="1" dirty="0">
                <a:solidFill>
                  <a:schemeClr val="tx1"/>
                </a:solidFill>
                <a:latin typeface="Arial" pitchFamily="34" charset="0"/>
                <a:ea typeface="Arial" pitchFamily="34" charset="-122"/>
                <a:cs typeface="Arial" pitchFamily="34" charset="-120"/>
              </a:rPr>
              <a:t>Android &amp; iPhone app</a:t>
            </a:r>
            <a:endParaRPr lang="en-US" sz="1900" dirty="0"/>
          </a:p>
        </p:txBody>
      </p:sp>
      <p:sp>
        <p:nvSpPr>
          <p:cNvPr id="10" name="Text 6"/>
          <p:cNvSpPr txBox="1"/>
          <p:nvPr/>
        </p:nvSpPr>
        <p:spPr>
          <a:xfrm>
            <a:off x="1417320" y="2944368"/>
            <a:ext cx="4206240" cy="594360"/>
          </a:xfrm>
          <a:prstGeom prst="rect">
            <a:avLst/>
          </a:prstGeom>
          <a:noFill/>
          <a:ln/>
        </p:spPr>
        <p:txBody>
          <a:bodyPr wrap="square" lIns="0" tIns="0" rIns="0" bIns="0" rtlCol="0" anchor="t"/>
          <a:lstStyle/>
          <a:p>
            <a:pPr indent="0" marL="0">
              <a:buNone/>
            </a:pPr>
            <a:r>
              <a:rPr lang="en-US" sz="1500" dirty="0">
                <a:solidFill>
                  <a:schemeClr val="tx2"/>
                </a:solidFill>
              </a:rPr>
              <a:t>Members join, learn, take quizzes and carry their card.</a:t>
            </a:r>
            <a:endParaRPr lang="en-US" sz="1500" dirty="0"/>
          </a:p>
        </p:txBody>
      </p:sp>
      <p:sp>
        <p:nvSpPr>
          <p:cNvPr id="11" name="Member web portal circle"/>
          <p:cNvSpPr/>
          <p:nvPr/>
        </p:nvSpPr>
        <p:spPr>
          <a:xfrm>
            <a:off x="548640" y="3657600"/>
            <a:ext cx="640080" cy="640080"/>
          </a:xfrm>
          <a:prstGeom prst="ellipse">
            <a:avLst/>
          </a:prstGeom>
          <a:solidFill>
            <a:schemeClr val="accent1"/>
          </a:solidFill>
          <a:ln/>
        </p:spPr>
      </p:sp>
      <p:pic>
        <p:nvPicPr>
          <p:cNvPr id="12" name="Member web portal" descr="Member web portal">    </p:cNvPr>
          <p:cNvPicPr>
            <a:picLocks noChangeAspect="1"/>
          </p:cNvPicPr>
          <p:nvPr/>
        </p:nvPicPr>
        <p:blipFill>
          <a:blip r:embed="rId3"/>
          <a:stretch>
            <a:fillRect/>
          </a:stretch>
        </p:blipFill>
        <p:spPr>
          <a:xfrm>
            <a:off x="721462" y="3830422"/>
            <a:ext cx="294437" cy="294437"/>
          </a:xfrm>
          <a:prstGeom prst="rect">
            <a:avLst/>
          </a:prstGeom>
        </p:spPr>
      </p:pic>
      <p:sp>
        <p:nvSpPr>
          <p:cNvPr id="13" name="Text 8"/>
          <p:cNvSpPr txBox="1"/>
          <p:nvPr/>
        </p:nvSpPr>
        <p:spPr>
          <a:xfrm>
            <a:off x="1417320" y="3639312"/>
            <a:ext cx="4206240" cy="365760"/>
          </a:xfrm>
          <a:prstGeom prst="rect">
            <a:avLst/>
          </a:prstGeom>
          <a:noFill/>
          <a:ln/>
        </p:spPr>
        <p:txBody>
          <a:bodyPr wrap="square" lIns="0" tIns="0" rIns="0" bIns="0" rtlCol="0" anchor="t"/>
          <a:lstStyle/>
          <a:p>
            <a:pPr indent="0" marL="0">
              <a:buNone/>
            </a:pPr>
            <a:r>
              <a:rPr lang="en-US" sz="1900" b="1" dirty="0">
                <a:solidFill>
                  <a:schemeClr val="tx1"/>
                </a:solidFill>
                <a:latin typeface="Arial" pitchFamily="34" charset="0"/>
                <a:ea typeface="Arial" pitchFamily="34" charset="-122"/>
                <a:cs typeface="Arial" pitchFamily="34" charset="-120"/>
              </a:rPr>
              <a:t>Member web portal</a:t>
            </a:r>
            <a:endParaRPr lang="en-US" sz="1900" dirty="0"/>
          </a:p>
        </p:txBody>
      </p:sp>
      <p:sp>
        <p:nvSpPr>
          <p:cNvPr id="14" name="Text 9"/>
          <p:cNvSpPr txBox="1"/>
          <p:nvPr/>
        </p:nvSpPr>
        <p:spPr>
          <a:xfrm>
            <a:off x="1417320" y="4041648"/>
            <a:ext cx="4206240" cy="594360"/>
          </a:xfrm>
          <a:prstGeom prst="rect">
            <a:avLst/>
          </a:prstGeom>
          <a:noFill/>
          <a:ln/>
        </p:spPr>
        <p:txBody>
          <a:bodyPr wrap="square" lIns="0" tIns="0" rIns="0" bIns="0" rtlCol="0" anchor="t"/>
          <a:lstStyle/>
          <a:p>
            <a:pPr indent="0" marL="0">
              <a:buNone/>
            </a:pPr>
            <a:r>
              <a:rPr lang="en-US" sz="1500" dirty="0">
                <a:solidFill>
                  <a:schemeClr val="tx2"/>
                </a:solidFill>
              </a:rPr>
              <a:t>The same member area on any computer or school lab.</a:t>
            </a:r>
            <a:endParaRPr lang="en-US" sz="1500" dirty="0"/>
          </a:p>
        </p:txBody>
      </p:sp>
      <p:sp>
        <p:nvSpPr>
          <p:cNvPr id="15" name="Administration Portal circle"/>
          <p:cNvSpPr/>
          <p:nvPr/>
        </p:nvSpPr>
        <p:spPr>
          <a:xfrm>
            <a:off x="548640" y="4754880"/>
            <a:ext cx="640080" cy="640080"/>
          </a:xfrm>
          <a:prstGeom prst="ellipse">
            <a:avLst/>
          </a:prstGeom>
          <a:solidFill>
            <a:schemeClr val="accent1"/>
          </a:solidFill>
          <a:ln/>
        </p:spPr>
      </p:sp>
      <p:pic>
        <p:nvPicPr>
          <p:cNvPr id="16" name="Administration Portal" descr="Administration Portal">    </p:cNvPr>
          <p:cNvPicPr>
            <a:picLocks noChangeAspect="1"/>
          </p:cNvPicPr>
          <p:nvPr/>
        </p:nvPicPr>
        <p:blipFill>
          <a:blip r:embed="rId4"/>
          <a:stretch>
            <a:fillRect/>
          </a:stretch>
        </p:blipFill>
        <p:spPr>
          <a:xfrm>
            <a:off x="721462" y="4927702"/>
            <a:ext cx="294437" cy="294437"/>
          </a:xfrm>
          <a:prstGeom prst="rect">
            <a:avLst/>
          </a:prstGeom>
        </p:spPr>
      </p:pic>
      <p:sp>
        <p:nvSpPr>
          <p:cNvPr id="17" name="Text 11"/>
          <p:cNvSpPr txBox="1"/>
          <p:nvPr/>
        </p:nvSpPr>
        <p:spPr>
          <a:xfrm>
            <a:off x="1417320" y="4736592"/>
            <a:ext cx="4206240" cy="365760"/>
          </a:xfrm>
          <a:prstGeom prst="rect">
            <a:avLst/>
          </a:prstGeom>
          <a:noFill/>
          <a:ln/>
        </p:spPr>
        <p:txBody>
          <a:bodyPr wrap="square" lIns="0" tIns="0" rIns="0" bIns="0" rtlCol="0" anchor="t"/>
          <a:lstStyle/>
          <a:p>
            <a:pPr indent="0" marL="0">
              <a:buNone/>
            </a:pPr>
            <a:r>
              <a:rPr lang="en-US" sz="1900" b="1" dirty="0">
                <a:solidFill>
                  <a:schemeClr val="tx1"/>
                </a:solidFill>
                <a:latin typeface="Arial" pitchFamily="34" charset="0"/>
                <a:ea typeface="Arial" pitchFamily="34" charset="-122"/>
                <a:cs typeface="Arial" pitchFamily="34" charset="-120"/>
              </a:rPr>
              <a:t>Administration Portal</a:t>
            </a:r>
            <a:endParaRPr lang="en-US" sz="1900" dirty="0"/>
          </a:p>
        </p:txBody>
      </p:sp>
      <p:sp>
        <p:nvSpPr>
          <p:cNvPr id="18" name="Text 12"/>
          <p:cNvSpPr txBox="1"/>
          <p:nvPr/>
        </p:nvSpPr>
        <p:spPr>
          <a:xfrm>
            <a:off x="1417320" y="5138928"/>
            <a:ext cx="4206240" cy="594360"/>
          </a:xfrm>
          <a:prstGeom prst="rect">
            <a:avLst/>
          </a:prstGeom>
          <a:noFill/>
          <a:ln/>
        </p:spPr>
        <p:txBody>
          <a:bodyPr wrap="square" lIns="0" tIns="0" rIns="0" bIns="0" rtlCol="0" anchor="t"/>
          <a:lstStyle/>
          <a:p>
            <a:pPr indent="0" marL="0">
              <a:buNone/>
            </a:pPr>
            <a:r>
              <a:rPr lang="en-US" sz="1500" dirty="0">
                <a:solidFill>
                  <a:schemeClr val="tx2"/>
                </a:solidFill>
              </a:rPr>
              <a:t>TRA officers, coordinators and patrons run the programme.</a:t>
            </a:r>
            <a:endParaRPr lang="en-US" sz="1500" dirty="0"/>
          </a:p>
        </p:txBody>
      </p:sp>
      <p:sp>
        <p:nvSpPr>
          <p:cNvPr id="19" name="Text 13"/>
          <p:cNvSpPr txBox="1"/>
          <p:nvPr/>
        </p:nvSpPr>
        <p:spPr>
          <a:xfrm>
            <a:off x="548640" y="5897880"/>
            <a:ext cx="5486400" cy="320040"/>
          </a:xfrm>
          <a:prstGeom prst="rect">
            <a:avLst/>
          </a:prstGeom>
          <a:noFill/>
          <a:ln/>
        </p:spPr>
        <p:txBody>
          <a:bodyPr wrap="square" lIns="0" tIns="0" rIns="0" bIns="0" rtlCol="0" anchor="t"/>
          <a:lstStyle/>
          <a:p>
            <a:pPr indent="0" marL="0">
              <a:buNone/>
            </a:pPr>
            <a:r>
              <a:rPr lang="en-US" sz="1300" i="1" dirty="0">
                <a:solidFill>
                  <a:schemeClr val="tx2"/>
                </a:solidFill>
              </a:rPr>
              <a:t>Kiswahili first, with English  ·  works on low-cost Android phones</a:t>
            </a:r>
            <a:endParaRPr lang="en-US" sz="1300" dirty="0"/>
          </a:p>
        </p:txBody>
      </p:sp>
      <p:pic>
        <p:nvPicPr>
          <p:cNvPr id="20" name="Member home with membership card" descr="Member home with membership card">    </p:cNvPr>
          <p:cNvPicPr>
            <a:picLocks noChangeAspect="1"/>
          </p:cNvPicPr>
          <p:nvPr/>
        </p:nvPicPr>
        <p:blipFill>
          <a:blip r:embed="rId5"/>
          <a:stretch>
            <a:fillRect/>
          </a:stretch>
        </p:blipFill>
        <p:spPr>
          <a:xfrm>
            <a:off x="5989320" y="1325880"/>
            <a:ext cx="2465886" cy="4846320"/>
          </a:xfrm>
          <a:prstGeom prst="rect">
            <a:avLst/>
          </a:prstGeom>
        </p:spPr>
      </p:pic>
      <p:pic>
        <p:nvPicPr>
          <p:cNvPr id="21" name="Learning modules" descr="Learning modules">    </p:cNvPr>
          <p:cNvPicPr>
            <a:picLocks noChangeAspect="1"/>
          </p:cNvPicPr>
          <p:nvPr/>
        </p:nvPicPr>
        <p:blipFill>
          <a:blip r:embed="rId6"/>
          <a:stretch>
            <a:fillRect/>
          </a:stretch>
        </p:blipFill>
        <p:spPr>
          <a:xfrm>
            <a:off x="8595360" y="1325880"/>
            <a:ext cx="2465886" cy="4846320"/>
          </a:xfrm>
          <a:prstGeom prst="rect">
            <a:avLst/>
          </a:prstGeom>
        </p:spPr>
      </p:pic>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algn="l" indent="0" marL="0">
              <a:buNone/>
            </a:pPr>
            <a:r>
              <a:rPr lang="en-US" sz="3200" b="1" dirty="0">
                <a:solidFill>
                  <a:schemeClr val="tx1"/>
                </a:solidFill>
                <a:latin typeface="Arial" pitchFamily="34" charset="0"/>
                <a:ea typeface="Arial" pitchFamily="34" charset="-122"/>
                <a:cs typeface="Arial" pitchFamily="34" charset="-120"/>
              </a:rPr>
              <a:t>The member journey: join, learn, lead</a:t>
            </a:r>
            <a:endParaRPr lang="en-US" sz="3200" dirty="0"/>
          </a:p>
        </p:txBody>
      </p:sp>
      <p:sp>
        <p:nvSpPr>
          <p:cNvPr id="3" name="Journey line"/>
          <p:cNvSpPr/>
          <p:nvPr/>
        </p:nvSpPr>
        <p:spPr>
          <a:xfrm>
            <a:off x="914400" y="1874520"/>
            <a:ext cx="9235440" cy="0"/>
          </a:xfrm>
          <a:prstGeom prst="line">
            <a:avLst/>
          </a:prstGeom>
          <a:noFill/>
          <a:ln w="19050">
            <a:solidFill>
              <a:schemeClr val="accent6"/>
            </a:solidFill>
            <a:prstDash val="dash"/>
          </a:ln>
        </p:spPr>
      </p:sp>
      <p:sp>
        <p:nvSpPr>
          <p:cNvPr id="4" name="Join circle"/>
          <p:cNvSpPr/>
          <p:nvPr/>
        </p:nvSpPr>
        <p:spPr>
          <a:xfrm>
            <a:off x="548640" y="1508760"/>
            <a:ext cx="731520" cy="731520"/>
          </a:xfrm>
          <a:prstGeom prst="ellipse">
            <a:avLst/>
          </a:prstGeom>
          <a:solidFill>
            <a:schemeClr val="accent1"/>
          </a:solidFill>
          <a:ln/>
        </p:spPr>
      </p:sp>
      <p:pic>
        <p:nvPicPr>
          <p:cNvPr id="5" name="Join" descr="Join">    </p:cNvPr>
          <p:cNvPicPr>
            <a:picLocks noChangeAspect="1"/>
          </p:cNvPicPr>
          <p:nvPr/>
        </p:nvPicPr>
        <p:blipFill>
          <a:blip r:embed="rId1"/>
          <a:stretch>
            <a:fillRect/>
          </a:stretch>
        </p:blipFill>
        <p:spPr>
          <a:xfrm>
            <a:off x="746150" y="1706270"/>
            <a:ext cx="336499" cy="336499"/>
          </a:xfrm>
          <a:prstGeom prst="rect">
            <a:avLst/>
          </a:prstGeom>
        </p:spPr>
      </p:pic>
      <p:sp>
        <p:nvSpPr>
          <p:cNvPr id="6" name="Text 3"/>
          <p:cNvSpPr txBox="1"/>
          <p:nvPr/>
        </p:nvSpPr>
        <p:spPr>
          <a:xfrm>
            <a:off x="548640" y="2423160"/>
            <a:ext cx="1645920" cy="320040"/>
          </a:xfrm>
          <a:prstGeom prst="rect">
            <a:avLst/>
          </a:prstGeom>
          <a:noFill/>
          <a:ln/>
        </p:spPr>
        <p:txBody>
          <a:bodyPr wrap="square" lIns="0" tIns="0" rIns="0" bIns="0" rtlCol="0" anchor="t"/>
          <a:lstStyle/>
          <a:p>
            <a:pPr indent="0" marL="0">
              <a:buNone/>
            </a:pPr>
            <a:r>
              <a:rPr lang="en-US" sz="1300" b="1" dirty="0">
                <a:solidFill>
                  <a:schemeClr val="tx2"/>
                </a:solidFill>
              </a:rPr>
              <a:t>01</a:t>
            </a:r>
            <a:endParaRPr lang="en-US" sz="1300" dirty="0"/>
          </a:p>
        </p:txBody>
      </p:sp>
      <p:sp>
        <p:nvSpPr>
          <p:cNvPr id="7" name="Text 4"/>
          <p:cNvSpPr txBox="1"/>
          <p:nvPr/>
        </p:nvSpPr>
        <p:spPr>
          <a:xfrm>
            <a:off x="548640" y="2743200"/>
            <a:ext cx="1691640" cy="411480"/>
          </a:xfrm>
          <a:prstGeom prst="rect">
            <a:avLst/>
          </a:prstGeom>
          <a:noFill/>
          <a:ln/>
        </p:spPr>
        <p:txBody>
          <a:bodyPr wrap="square" lIns="0" tIns="0" rIns="0" bIns="0" rtlCol="0" anchor="t"/>
          <a:lstStyle/>
          <a:p>
            <a:pPr indent="0" marL="0">
              <a:buNone/>
            </a:pPr>
            <a:r>
              <a:rPr lang="en-US" sz="2000" b="1" dirty="0">
                <a:solidFill>
                  <a:schemeClr val="tx1"/>
                </a:solidFill>
                <a:latin typeface="Arial" pitchFamily="34" charset="0"/>
                <a:ea typeface="Arial" pitchFamily="34" charset="-122"/>
                <a:cs typeface="Arial" pitchFamily="34" charset="-120"/>
              </a:rPr>
              <a:t>Join</a:t>
            </a:r>
            <a:endParaRPr lang="en-US" sz="2000" dirty="0"/>
          </a:p>
        </p:txBody>
      </p:sp>
      <p:sp>
        <p:nvSpPr>
          <p:cNvPr id="8" name="Text 5"/>
          <p:cNvSpPr txBox="1"/>
          <p:nvPr/>
        </p:nvSpPr>
        <p:spPr>
          <a:xfrm>
            <a:off x="548640" y="3246120"/>
            <a:ext cx="1691640" cy="2651760"/>
          </a:xfrm>
          <a:prstGeom prst="rect">
            <a:avLst/>
          </a:prstGeom>
          <a:noFill/>
          <a:ln/>
        </p:spPr>
        <p:txBody>
          <a:bodyPr wrap="square" lIns="0" tIns="0" rIns="0" bIns="0" rtlCol="0" anchor="t"/>
          <a:lstStyle/>
          <a:p>
            <a:pPr indent="0" marL="0">
              <a:buNone/>
            </a:pPr>
            <a:r>
              <a:rPr lang="en-US" sz="1400" dirty="0">
                <a:solidFill>
                  <a:schemeClr val="tx2"/>
                </a:solidFill>
              </a:rPr>
              <a:t>Choose school level and institution. College and university students give their TIN, or register for one on TRA's portal.</a:t>
            </a:r>
            <a:endParaRPr lang="en-US" sz="1400" dirty="0"/>
          </a:p>
        </p:txBody>
      </p:sp>
      <p:sp>
        <p:nvSpPr>
          <p:cNvPr id="9" name="Verified circle"/>
          <p:cNvSpPr/>
          <p:nvPr/>
        </p:nvSpPr>
        <p:spPr>
          <a:xfrm>
            <a:off x="2395728" y="1508760"/>
            <a:ext cx="731520" cy="731520"/>
          </a:xfrm>
          <a:prstGeom prst="ellipse">
            <a:avLst/>
          </a:prstGeom>
          <a:solidFill>
            <a:schemeClr val="accent1"/>
          </a:solidFill>
          <a:ln/>
        </p:spPr>
      </p:sp>
      <p:pic>
        <p:nvPicPr>
          <p:cNvPr id="10" name="Verified" descr="Verified">    </p:cNvPr>
          <p:cNvPicPr>
            <a:picLocks noChangeAspect="1"/>
          </p:cNvPicPr>
          <p:nvPr/>
        </p:nvPicPr>
        <p:blipFill>
          <a:blip r:embed="rId2"/>
          <a:stretch>
            <a:fillRect/>
          </a:stretch>
        </p:blipFill>
        <p:spPr>
          <a:xfrm>
            <a:off x="2593238" y="1706270"/>
            <a:ext cx="336499" cy="336499"/>
          </a:xfrm>
          <a:prstGeom prst="rect">
            <a:avLst/>
          </a:prstGeom>
        </p:spPr>
      </p:pic>
      <p:sp>
        <p:nvSpPr>
          <p:cNvPr id="11" name="Text 7"/>
          <p:cNvSpPr txBox="1"/>
          <p:nvPr/>
        </p:nvSpPr>
        <p:spPr>
          <a:xfrm>
            <a:off x="2395728" y="2423160"/>
            <a:ext cx="1645920" cy="320040"/>
          </a:xfrm>
          <a:prstGeom prst="rect">
            <a:avLst/>
          </a:prstGeom>
          <a:noFill/>
          <a:ln/>
        </p:spPr>
        <p:txBody>
          <a:bodyPr wrap="square" lIns="0" tIns="0" rIns="0" bIns="0" rtlCol="0" anchor="t"/>
          <a:lstStyle/>
          <a:p>
            <a:pPr indent="0" marL="0">
              <a:buNone/>
            </a:pPr>
            <a:r>
              <a:rPr lang="en-US" sz="1300" b="1" dirty="0">
                <a:solidFill>
                  <a:schemeClr val="tx2"/>
                </a:solidFill>
              </a:rPr>
              <a:t>02</a:t>
            </a:r>
            <a:endParaRPr lang="en-US" sz="1300" dirty="0"/>
          </a:p>
        </p:txBody>
      </p:sp>
      <p:sp>
        <p:nvSpPr>
          <p:cNvPr id="12" name="Text 8"/>
          <p:cNvSpPr txBox="1"/>
          <p:nvPr/>
        </p:nvSpPr>
        <p:spPr>
          <a:xfrm>
            <a:off x="2395728" y="2743200"/>
            <a:ext cx="1691640" cy="411480"/>
          </a:xfrm>
          <a:prstGeom prst="rect">
            <a:avLst/>
          </a:prstGeom>
          <a:noFill/>
          <a:ln/>
        </p:spPr>
        <p:txBody>
          <a:bodyPr wrap="square" lIns="0" tIns="0" rIns="0" bIns="0" rtlCol="0" anchor="t"/>
          <a:lstStyle/>
          <a:p>
            <a:pPr indent="0" marL="0">
              <a:buNone/>
            </a:pPr>
            <a:r>
              <a:rPr lang="en-US" sz="2000" b="1" dirty="0">
                <a:solidFill>
                  <a:schemeClr val="tx1"/>
                </a:solidFill>
                <a:latin typeface="Arial" pitchFamily="34" charset="0"/>
                <a:ea typeface="Arial" pitchFamily="34" charset="-122"/>
                <a:cs typeface="Arial" pitchFamily="34" charset="-120"/>
              </a:rPr>
              <a:t>Verified</a:t>
            </a:r>
            <a:endParaRPr lang="en-US" sz="2000" dirty="0"/>
          </a:p>
        </p:txBody>
      </p:sp>
      <p:sp>
        <p:nvSpPr>
          <p:cNvPr id="13" name="Text 9"/>
          <p:cNvSpPr txBox="1"/>
          <p:nvPr/>
        </p:nvSpPr>
        <p:spPr>
          <a:xfrm>
            <a:off x="2395728" y="3246120"/>
            <a:ext cx="1691640" cy="2651760"/>
          </a:xfrm>
          <a:prstGeom prst="rect">
            <a:avLst/>
          </a:prstGeom>
          <a:noFill/>
          <a:ln/>
        </p:spPr>
        <p:txBody>
          <a:bodyPr wrap="square" lIns="0" tIns="0" rIns="0" bIns="0" rtlCol="0" anchor="t"/>
          <a:lstStyle/>
          <a:p>
            <a:pPr indent="0" marL="0">
              <a:buNone/>
            </a:pPr>
            <a:r>
              <a:rPr lang="en-US" sz="1400" dirty="0">
                <a:solidFill>
                  <a:schemeClr val="tx2"/>
                </a:solidFill>
              </a:rPr>
              <a:t>The club patron and the TRA regional coordinator confirm the member. Under-18s need a guardian's consent.</a:t>
            </a:r>
            <a:endParaRPr lang="en-US" sz="1400" dirty="0"/>
          </a:p>
        </p:txBody>
      </p:sp>
      <p:sp>
        <p:nvSpPr>
          <p:cNvPr id="14" name="Learn circle"/>
          <p:cNvSpPr/>
          <p:nvPr/>
        </p:nvSpPr>
        <p:spPr>
          <a:xfrm>
            <a:off x="4242816" y="1508760"/>
            <a:ext cx="731520" cy="731520"/>
          </a:xfrm>
          <a:prstGeom prst="ellipse">
            <a:avLst/>
          </a:prstGeom>
          <a:solidFill>
            <a:schemeClr val="accent1"/>
          </a:solidFill>
          <a:ln/>
        </p:spPr>
      </p:sp>
      <p:pic>
        <p:nvPicPr>
          <p:cNvPr id="15" name="Learn" descr="Learn">    </p:cNvPr>
          <p:cNvPicPr>
            <a:picLocks noChangeAspect="1"/>
          </p:cNvPicPr>
          <p:nvPr/>
        </p:nvPicPr>
        <p:blipFill>
          <a:blip r:embed="rId3"/>
          <a:stretch>
            <a:fillRect/>
          </a:stretch>
        </p:blipFill>
        <p:spPr>
          <a:xfrm>
            <a:off x="4440326" y="1706270"/>
            <a:ext cx="336499" cy="336499"/>
          </a:xfrm>
          <a:prstGeom prst="rect">
            <a:avLst/>
          </a:prstGeom>
        </p:spPr>
      </p:pic>
      <p:sp>
        <p:nvSpPr>
          <p:cNvPr id="16" name="Text 11"/>
          <p:cNvSpPr txBox="1"/>
          <p:nvPr/>
        </p:nvSpPr>
        <p:spPr>
          <a:xfrm>
            <a:off x="4242816" y="2423160"/>
            <a:ext cx="1645920" cy="320040"/>
          </a:xfrm>
          <a:prstGeom prst="rect">
            <a:avLst/>
          </a:prstGeom>
          <a:noFill/>
          <a:ln/>
        </p:spPr>
        <p:txBody>
          <a:bodyPr wrap="square" lIns="0" tIns="0" rIns="0" bIns="0" rtlCol="0" anchor="t"/>
          <a:lstStyle/>
          <a:p>
            <a:pPr indent="0" marL="0">
              <a:buNone/>
            </a:pPr>
            <a:r>
              <a:rPr lang="en-US" sz="1300" b="1" dirty="0">
                <a:solidFill>
                  <a:schemeClr val="tx2"/>
                </a:solidFill>
              </a:rPr>
              <a:t>03</a:t>
            </a:r>
            <a:endParaRPr lang="en-US" sz="1300" dirty="0"/>
          </a:p>
        </p:txBody>
      </p:sp>
      <p:sp>
        <p:nvSpPr>
          <p:cNvPr id="17" name="Text 12"/>
          <p:cNvSpPr txBox="1"/>
          <p:nvPr/>
        </p:nvSpPr>
        <p:spPr>
          <a:xfrm>
            <a:off x="4242816" y="2743200"/>
            <a:ext cx="1691640" cy="411480"/>
          </a:xfrm>
          <a:prstGeom prst="rect">
            <a:avLst/>
          </a:prstGeom>
          <a:noFill/>
          <a:ln/>
        </p:spPr>
        <p:txBody>
          <a:bodyPr wrap="square" lIns="0" tIns="0" rIns="0" bIns="0" rtlCol="0" anchor="t"/>
          <a:lstStyle/>
          <a:p>
            <a:pPr indent="0" marL="0">
              <a:buNone/>
            </a:pPr>
            <a:r>
              <a:rPr lang="en-US" sz="2000" b="1" dirty="0">
                <a:solidFill>
                  <a:schemeClr val="tx1"/>
                </a:solidFill>
                <a:latin typeface="Arial" pitchFamily="34" charset="0"/>
                <a:ea typeface="Arial" pitchFamily="34" charset="-122"/>
                <a:cs typeface="Arial" pitchFamily="34" charset="-120"/>
              </a:rPr>
              <a:t>Learn</a:t>
            </a:r>
            <a:endParaRPr lang="en-US" sz="2000" dirty="0"/>
          </a:p>
        </p:txBody>
      </p:sp>
      <p:sp>
        <p:nvSpPr>
          <p:cNvPr id="18" name="Text 13"/>
          <p:cNvSpPr txBox="1"/>
          <p:nvPr/>
        </p:nvSpPr>
        <p:spPr>
          <a:xfrm>
            <a:off x="4242816" y="3246120"/>
            <a:ext cx="1691640" cy="2651760"/>
          </a:xfrm>
          <a:prstGeom prst="rect">
            <a:avLst/>
          </a:prstGeom>
          <a:noFill/>
          <a:ln/>
        </p:spPr>
        <p:txBody>
          <a:bodyPr wrap="square" lIns="0" tIns="0" rIns="0" bIns="0" rtlCol="0" anchor="t"/>
          <a:lstStyle/>
          <a:p>
            <a:pPr indent="0" marL="0">
              <a:buNone/>
            </a:pPr>
            <a:r>
              <a:rPr lang="en-US" sz="1400" dirty="0">
                <a:solidFill>
                  <a:schemeClr val="tx2"/>
                </a:solidFill>
              </a:rPr>
              <a:t>Short TRA lessons: TIN, VAT, EFD receipts, customs, taxpayer rights.</a:t>
            </a:r>
            <a:endParaRPr lang="en-US" sz="1400" dirty="0"/>
          </a:p>
        </p:txBody>
      </p:sp>
      <p:sp>
        <p:nvSpPr>
          <p:cNvPr id="19" name="Test circle"/>
          <p:cNvSpPr/>
          <p:nvPr/>
        </p:nvSpPr>
        <p:spPr>
          <a:xfrm>
            <a:off x="6089904" y="1508760"/>
            <a:ext cx="731520" cy="731520"/>
          </a:xfrm>
          <a:prstGeom prst="ellipse">
            <a:avLst/>
          </a:prstGeom>
          <a:solidFill>
            <a:schemeClr val="accent1"/>
          </a:solidFill>
          <a:ln/>
        </p:spPr>
      </p:sp>
      <p:pic>
        <p:nvPicPr>
          <p:cNvPr id="20" name="Test" descr="Test">    </p:cNvPr>
          <p:cNvPicPr>
            <a:picLocks noChangeAspect="1"/>
          </p:cNvPicPr>
          <p:nvPr/>
        </p:nvPicPr>
        <p:blipFill>
          <a:blip r:embed="rId4"/>
          <a:stretch>
            <a:fillRect/>
          </a:stretch>
        </p:blipFill>
        <p:spPr>
          <a:xfrm>
            <a:off x="6287414" y="1706270"/>
            <a:ext cx="336499" cy="336499"/>
          </a:xfrm>
          <a:prstGeom prst="rect">
            <a:avLst/>
          </a:prstGeom>
        </p:spPr>
      </p:pic>
      <p:sp>
        <p:nvSpPr>
          <p:cNvPr id="21" name="Text 15"/>
          <p:cNvSpPr txBox="1"/>
          <p:nvPr/>
        </p:nvSpPr>
        <p:spPr>
          <a:xfrm>
            <a:off x="6089904" y="2423160"/>
            <a:ext cx="1645920" cy="320040"/>
          </a:xfrm>
          <a:prstGeom prst="rect">
            <a:avLst/>
          </a:prstGeom>
          <a:noFill/>
          <a:ln/>
        </p:spPr>
        <p:txBody>
          <a:bodyPr wrap="square" lIns="0" tIns="0" rIns="0" bIns="0" rtlCol="0" anchor="t"/>
          <a:lstStyle/>
          <a:p>
            <a:pPr indent="0" marL="0">
              <a:buNone/>
            </a:pPr>
            <a:r>
              <a:rPr lang="en-US" sz="1300" b="1" dirty="0">
                <a:solidFill>
                  <a:schemeClr val="tx2"/>
                </a:solidFill>
              </a:rPr>
              <a:t>04</a:t>
            </a:r>
            <a:endParaRPr lang="en-US" sz="1300" dirty="0"/>
          </a:p>
        </p:txBody>
      </p:sp>
      <p:sp>
        <p:nvSpPr>
          <p:cNvPr id="22" name="Text 16"/>
          <p:cNvSpPr txBox="1"/>
          <p:nvPr/>
        </p:nvSpPr>
        <p:spPr>
          <a:xfrm>
            <a:off x="6089904" y="2743200"/>
            <a:ext cx="1691640" cy="411480"/>
          </a:xfrm>
          <a:prstGeom prst="rect">
            <a:avLst/>
          </a:prstGeom>
          <a:noFill/>
          <a:ln/>
        </p:spPr>
        <p:txBody>
          <a:bodyPr wrap="square" lIns="0" tIns="0" rIns="0" bIns="0" rtlCol="0" anchor="t"/>
          <a:lstStyle/>
          <a:p>
            <a:pPr indent="0" marL="0">
              <a:buNone/>
            </a:pPr>
            <a:r>
              <a:rPr lang="en-US" sz="2000" b="1" dirty="0">
                <a:solidFill>
                  <a:schemeClr val="tx1"/>
                </a:solidFill>
                <a:latin typeface="Arial" pitchFamily="34" charset="0"/>
                <a:ea typeface="Arial" pitchFamily="34" charset="-122"/>
                <a:cs typeface="Arial" pitchFamily="34" charset="-120"/>
              </a:rPr>
              <a:t>Test</a:t>
            </a:r>
            <a:endParaRPr lang="en-US" sz="2000" dirty="0"/>
          </a:p>
        </p:txBody>
      </p:sp>
      <p:sp>
        <p:nvSpPr>
          <p:cNvPr id="23" name="Text 17"/>
          <p:cNvSpPr txBox="1"/>
          <p:nvPr/>
        </p:nvSpPr>
        <p:spPr>
          <a:xfrm>
            <a:off x="6089904" y="3246120"/>
            <a:ext cx="1691640" cy="2651760"/>
          </a:xfrm>
          <a:prstGeom prst="rect">
            <a:avLst/>
          </a:prstGeom>
          <a:noFill/>
          <a:ln/>
        </p:spPr>
        <p:txBody>
          <a:bodyPr wrap="square" lIns="0" tIns="0" rIns="0" bIns="0" rtlCol="0" anchor="t"/>
          <a:lstStyle/>
          <a:p>
            <a:pPr indent="0" marL="0">
              <a:buNone/>
            </a:pPr>
            <a:r>
              <a:rPr lang="en-US" sz="1400" dirty="0">
                <a:solidFill>
                  <a:schemeClr val="tx2"/>
                </a:solidFill>
              </a:rPr>
              <a:t>Timed quizzes earn points, badges and a place on the leaderboard.</a:t>
            </a:r>
            <a:endParaRPr lang="en-US" sz="1400" dirty="0"/>
          </a:p>
        </p:txBody>
      </p:sp>
      <p:sp>
        <p:nvSpPr>
          <p:cNvPr id="24" name="Take part circle"/>
          <p:cNvSpPr/>
          <p:nvPr/>
        </p:nvSpPr>
        <p:spPr>
          <a:xfrm>
            <a:off x="7936992" y="1508760"/>
            <a:ext cx="731520" cy="731520"/>
          </a:xfrm>
          <a:prstGeom prst="ellipse">
            <a:avLst/>
          </a:prstGeom>
          <a:solidFill>
            <a:schemeClr val="accent1"/>
          </a:solidFill>
          <a:ln/>
        </p:spPr>
      </p:sp>
      <p:pic>
        <p:nvPicPr>
          <p:cNvPr id="25" name="Take part" descr="Take part">    </p:cNvPr>
          <p:cNvPicPr>
            <a:picLocks noChangeAspect="1"/>
          </p:cNvPicPr>
          <p:nvPr/>
        </p:nvPicPr>
        <p:blipFill>
          <a:blip r:embed="rId5"/>
          <a:stretch>
            <a:fillRect/>
          </a:stretch>
        </p:blipFill>
        <p:spPr>
          <a:xfrm>
            <a:off x="8134502" y="1706270"/>
            <a:ext cx="336499" cy="336499"/>
          </a:xfrm>
          <a:prstGeom prst="rect">
            <a:avLst/>
          </a:prstGeom>
        </p:spPr>
      </p:pic>
      <p:sp>
        <p:nvSpPr>
          <p:cNvPr id="26" name="Text 19"/>
          <p:cNvSpPr txBox="1"/>
          <p:nvPr/>
        </p:nvSpPr>
        <p:spPr>
          <a:xfrm>
            <a:off x="7936992" y="2423160"/>
            <a:ext cx="1645920" cy="320040"/>
          </a:xfrm>
          <a:prstGeom prst="rect">
            <a:avLst/>
          </a:prstGeom>
          <a:noFill/>
          <a:ln/>
        </p:spPr>
        <p:txBody>
          <a:bodyPr wrap="square" lIns="0" tIns="0" rIns="0" bIns="0" rtlCol="0" anchor="t"/>
          <a:lstStyle/>
          <a:p>
            <a:pPr indent="0" marL="0">
              <a:buNone/>
            </a:pPr>
            <a:r>
              <a:rPr lang="en-US" sz="1300" b="1" dirty="0">
                <a:solidFill>
                  <a:schemeClr val="tx2"/>
                </a:solidFill>
              </a:rPr>
              <a:t>05</a:t>
            </a:r>
            <a:endParaRPr lang="en-US" sz="1300" dirty="0"/>
          </a:p>
        </p:txBody>
      </p:sp>
      <p:sp>
        <p:nvSpPr>
          <p:cNvPr id="27" name="Text 20"/>
          <p:cNvSpPr txBox="1"/>
          <p:nvPr/>
        </p:nvSpPr>
        <p:spPr>
          <a:xfrm>
            <a:off x="7936992" y="2743200"/>
            <a:ext cx="1691640" cy="411480"/>
          </a:xfrm>
          <a:prstGeom prst="rect">
            <a:avLst/>
          </a:prstGeom>
          <a:noFill/>
          <a:ln/>
        </p:spPr>
        <p:txBody>
          <a:bodyPr wrap="square" lIns="0" tIns="0" rIns="0" bIns="0" rtlCol="0" anchor="t"/>
          <a:lstStyle/>
          <a:p>
            <a:pPr indent="0" marL="0">
              <a:buNone/>
            </a:pPr>
            <a:r>
              <a:rPr lang="en-US" sz="2000" b="1" dirty="0">
                <a:solidFill>
                  <a:schemeClr val="tx1"/>
                </a:solidFill>
                <a:latin typeface="Arial" pitchFamily="34" charset="0"/>
                <a:ea typeface="Arial" pitchFamily="34" charset="-122"/>
                <a:cs typeface="Arial" pitchFamily="34" charset="-120"/>
              </a:rPr>
              <a:t>Take part</a:t>
            </a:r>
            <a:endParaRPr lang="en-US" sz="2000" dirty="0"/>
          </a:p>
        </p:txBody>
      </p:sp>
      <p:sp>
        <p:nvSpPr>
          <p:cNvPr id="28" name="Text 21"/>
          <p:cNvSpPr txBox="1"/>
          <p:nvPr/>
        </p:nvSpPr>
        <p:spPr>
          <a:xfrm>
            <a:off x="7936992" y="3246120"/>
            <a:ext cx="1691640" cy="2651760"/>
          </a:xfrm>
          <a:prstGeom prst="rect">
            <a:avLst/>
          </a:prstGeom>
          <a:noFill/>
          <a:ln/>
        </p:spPr>
        <p:txBody>
          <a:bodyPr wrap="square" lIns="0" tIns="0" rIns="0" bIns="0" rtlCol="0" anchor="t"/>
          <a:lstStyle/>
          <a:p>
            <a:pPr indent="0" marL="0">
              <a:buNone/>
            </a:pPr>
            <a:r>
              <a:rPr lang="en-US" sz="1400" dirty="0">
                <a:solidFill>
                  <a:schemeClr val="tx2"/>
                </a:solidFill>
              </a:rPr>
              <a:t>Events, Taxpayers' Day, competitions and Ask TRA, with QR check-in.</a:t>
            </a:r>
            <a:endParaRPr lang="en-US" sz="1400" dirty="0"/>
          </a:p>
        </p:txBody>
      </p:sp>
      <p:sp>
        <p:nvSpPr>
          <p:cNvPr id="29" name="Grow circle"/>
          <p:cNvSpPr/>
          <p:nvPr/>
        </p:nvSpPr>
        <p:spPr>
          <a:xfrm>
            <a:off x="9784080" y="1508760"/>
            <a:ext cx="731520" cy="731520"/>
          </a:xfrm>
          <a:prstGeom prst="ellipse">
            <a:avLst/>
          </a:prstGeom>
          <a:solidFill>
            <a:schemeClr val="accent1"/>
          </a:solidFill>
          <a:ln/>
        </p:spPr>
      </p:sp>
      <p:pic>
        <p:nvPicPr>
          <p:cNvPr id="30" name="Grow" descr="Grow">    </p:cNvPr>
          <p:cNvPicPr>
            <a:picLocks noChangeAspect="1"/>
          </p:cNvPicPr>
          <p:nvPr/>
        </p:nvPicPr>
        <p:blipFill>
          <a:blip r:embed="rId6"/>
          <a:stretch>
            <a:fillRect/>
          </a:stretch>
        </p:blipFill>
        <p:spPr>
          <a:xfrm>
            <a:off x="9981590" y="1706270"/>
            <a:ext cx="336499" cy="336499"/>
          </a:xfrm>
          <a:prstGeom prst="rect">
            <a:avLst/>
          </a:prstGeom>
        </p:spPr>
      </p:pic>
      <p:sp>
        <p:nvSpPr>
          <p:cNvPr id="31" name="Text 23"/>
          <p:cNvSpPr txBox="1"/>
          <p:nvPr/>
        </p:nvSpPr>
        <p:spPr>
          <a:xfrm>
            <a:off x="9784080" y="2423160"/>
            <a:ext cx="1645920" cy="320040"/>
          </a:xfrm>
          <a:prstGeom prst="rect">
            <a:avLst/>
          </a:prstGeom>
          <a:noFill/>
          <a:ln/>
        </p:spPr>
        <p:txBody>
          <a:bodyPr wrap="square" lIns="0" tIns="0" rIns="0" bIns="0" rtlCol="0" anchor="t"/>
          <a:lstStyle/>
          <a:p>
            <a:pPr indent="0" marL="0">
              <a:buNone/>
            </a:pPr>
            <a:r>
              <a:rPr lang="en-US" sz="1300" b="1" dirty="0">
                <a:solidFill>
                  <a:schemeClr val="tx2"/>
                </a:solidFill>
              </a:rPr>
              <a:t>06</a:t>
            </a:r>
            <a:endParaRPr lang="en-US" sz="1300" dirty="0"/>
          </a:p>
        </p:txBody>
      </p:sp>
      <p:sp>
        <p:nvSpPr>
          <p:cNvPr id="32" name="Text 24"/>
          <p:cNvSpPr txBox="1"/>
          <p:nvPr/>
        </p:nvSpPr>
        <p:spPr>
          <a:xfrm>
            <a:off x="9784080" y="2743200"/>
            <a:ext cx="1691640" cy="411480"/>
          </a:xfrm>
          <a:prstGeom prst="rect">
            <a:avLst/>
          </a:prstGeom>
          <a:noFill/>
          <a:ln/>
        </p:spPr>
        <p:txBody>
          <a:bodyPr wrap="square" lIns="0" tIns="0" rIns="0" bIns="0" rtlCol="0" anchor="t"/>
          <a:lstStyle/>
          <a:p>
            <a:pPr indent="0" marL="0">
              <a:buNone/>
            </a:pPr>
            <a:r>
              <a:rPr lang="en-US" sz="2000" b="1" dirty="0">
                <a:solidFill>
                  <a:schemeClr val="tx1"/>
                </a:solidFill>
                <a:latin typeface="Arial" pitchFamily="34" charset="0"/>
                <a:ea typeface="Arial" pitchFamily="34" charset="-122"/>
                <a:cs typeface="Arial" pitchFamily="34" charset="-120"/>
              </a:rPr>
              <a:t>Grow</a:t>
            </a:r>
            <a:endParaRPr lang="en-US" sz="2000" dirty="0"/>
          </a:p>
        </p:txBody>
      </p:sp>
      <p:sp>
        <p:nvSpPr>
          <p:cNvPr id="33" name="Text 25"/>
          <p:cNvSpPr txBox="1"/>
          <p:nvPr/>
        </p:nvSpPr>
        <p:spPr>
          <a:xfrm>
            <a:off x="9784080" y="3246120"/>
            <a:ext cx="1691640" cy="2651760"/>
          </a:xfrm>
          <a:prstGeom prst="rect">
            <a:avLst/>
          </a:prstGeom>
          <a:noFill/>
          <a:ln/>
        </p:spPr>
        <p:txBody>
          <a:bodyPr wrap="square" lIns="0" tIns="0" rIns="0" bIns="0" rtlCol="0" anchor="t"/>
          <a:lstStyle/>
          <a:p>
            <a:pPr indent="0" marL="0">
              <a:buNone/>
            </a:pPr>
            <a:r>
              <a:rPr lang="en-US" sz="1400" dirty="0">
                <a:solidFill>
                  <a:schemeClr val="tx2"/>
                </a:solidFill>
              </a:rPr>
              <a:t>Certificates, opportunities, then alumni and mentors for new members.</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algn="l" indent="0" marL="0">
              <a:buNone/>
            </a:pPr>
            <a:r>
              <a:rPr lang="en-US" sz="3200" b="1" dirty="0">
                <a:solidFill>
                  <a:schemeClr val="tx1"/>
                </a:solidFill>
                <a:latin typeface="Arial" pitchFamily="34" charset="0"/>
                <a:ea typeface="Arial" pitchFamily="34" charset="-122"/>
                <a:cs typeface="Arial" pitchFamily="34" charset="-120"/>
              </a:rPr>
              <a:t>TRA stays in control of the programme</a:t>
            </a:r>
            <a:endParaRPr lang="en-US" sz="3200" dirty="0"/>
          </a:p>
        </p:txBody>
      </p:sp>
      <p:pic>
        <p:nvPicPr>
          <p:cNvPr id="3" name="Statistics screen" descr="Administration Portal statistics">    </p:cNvPr>
          <p:cNvPicPr>
            <a:picLocks noChangeAspect="1"/>
          </p:cNvPicPr>
          <p:nvPr/>
        </p:nvPicPr>
        <p:blipFill>
          <a:blip r:embed="rId1"/>
          <a:stretch>
            <a:fillRect/>
          </a:stretch>
        </p:blipFill>
        <p:spPr>
          <a:xfrm>
            <a:off x="548640" y="1463040"/>
            <a:ext cx="6583680" cy="3503596"/>
          </a:xfrm>
          <a:prstGeom prst="rect">
            <a:avLst/>
          </a:prstGeom>
        </p:spPr>
      </p:pic>
      <p:sp>
        <p:nvSpPr>
          <p:cNvPr id="4" name="Text 1"/>
          <p:cNvSpPr txBox="1"/>
          <p:nvPr/>
        </p:nvSpPr>
        <p:spPr>
          <a:xfrm>
            <a:off x="548640" y="5120640"/>
            <a:ext cx="6583680" cy="365760"/>
          </a:xfrm>
          <a:prstGeom prst="rect">
            <a:avLst/>
          </a:prstGeom>
          <a:noFill/>
          <a:ln/>
        </p:spPr>
        <p:txBody>
          <a:bodyPr wrap="square" lIns="0" tIns="0" rIns="0" bIns="0" rtlCol="0" anchor="t"/>
          <a:lstStyle/>
          <a:p>
            <a:pPr indent="0" marL="0">
              <a:buNone/>
            </a:pPr>
            <a:r>
              <a:rPr lang="en-US" sz="1300" i="1" dirty="0">
                <a:solidFill>
                  <a:schemeClr val="tx2"/>
                </a:solidFill>
              </a:rPr>
              <a:t>Live statistics by region, institution and category, exportable to Excel</a:t>
            </a:r>
            <a:endParaRPr lang="en-US" sz="1300" dirty="0"/>
          </a:p>
        </p:txBody>
      </p:sp>
      <p:sp>
        <p:nvSpPr>
          <p:cNvPr id="5" name="Text 2"/>
          <p:cNvSpPr txBox="1"/>
          <p:nvPr/>
        </p:nvSpPr>
        <p:spPr>
          <a:xfrm>
            <a:off x="7498080" y="1463040"/>
            <a:ext cx="4114800" cy="4206240"/>
          </a:xfrm>
          <a:prstGeom prst="rect">
            <a:avLst/>
          </a:prstGeom>
          <a:noFill/>
          <a:ln/>
        </p:spPr>
        <p:txBody>
          <a:bodyPr wrap="square" lIns="0" tIns="0" rIns="0" bIns="0" rtlCol="0" anchor="t"/>
          <a:lstStyle/>
          <a:p>
            <a:pPr marL="342900" indent="-342900">
              <a:spcAft>
                <a:spcPts val="1000"/>
              </a:spcAft>
              <a:buSzPct val="100000"/>
              <a:buChar char="•"/>
            </a:pPr>
            <a:r>
              <a:rPr lang="en-US" sz="1500" dirty="0">
                <a:solidFill>
                  <a:schemeClr val="tx1"/>
                </a:solidFill>
              </a:rPr>
              <a:t>Registry of institutions and Tax Clubs, with CSV import</a:t>
            </a:r>
            <a:endParaRPr lang="en-US" sz="1500" dirty="0"/>
          </a:p>
          <a:p>
            <a:pPr marL="342900" indent="-342900">
              <a:spcAft>
                <a:spcPts val="1000"/>
              </a:spcAft>
              <a:buSzPct val="100000"/>
              <a:buChar char="•"/>
            </a:pPr>
            <a:r>
              <a:rPr lang="en-US" sz="1500" dirty="0">
                <a:solidFill>
                  <a:schemeClr val="tx1"/>
                </a:solidFill>
              </a:rPr>
              <a:t>Patrons and regional coordinators verify members</a:t>
            </a:r>
            <a:endParaRPr lang="en-US" sz="1500" dirty="0"/>
          </a:p>
          <a:p>
            <a:pPr marL="342900" indent="-342900">
              <a:spcAft>
                <a:spcPts val="1000"/>
              </a:spcAft>
              <a:buSzPct val="100000"/>
              <a:buChar char="•"/>
            </a:pPr>
            <a:r>
              <a:rPr lang="en-US" sz="1500" dirty="0">
                <a:solidFill>
                  <a:schemeClr val="tx1"/>
                </a:solidFill>
              </a:rPr>
              <a:t>Every lesson, quiz and event is reviewed before it is published</a:t>
            </a:r>
            <a:endParaRPr lang="en-US" sz="1500" dirty="0"/>
          </a:p>
          <a:p>
            <a:pPr marL="342900" indent="-342900">
              <a:spcAft>
                <a:spcPts val="1000"/>
              </a:spcAft>
              <a:buSzPct val="100000"/>
              <a:buChar char="•"/>
            </a:pPr>
            <a:r>
              <a:rPr lang="en-US" sz="1500" dirty="0">
                <a:solidFill>
                  <a:schemeClr val="tx1"/>
                </a:solidFill>
              </a:rPr>
              <a:t>SMS broadcasts and reminders to chosen regions or schools</a:t>
            </a:r>
            <a:endParaRPr lang="en-US" sz="1500" dirty="0"/>
          </a:p>
          <a:p>
            <a:pPr marL="342900" indent="-342900">
              <a:spcAft>
                <a:spcPts val="1000"/>
              </a:spcAft>
              <a:buSzPct val="100000"/>
              <a:buChar char="•"/>
            </a:pPr>
            <a:r>
              <a:rPr lang="en-US" sz="1500" dirty="0">
                <a:solidFill>
                  <a:schemeClr val="tx1"/>
                </a:solidFill>
              </a:rPr>
              <a:t>Competitions, rewards and verifiable certificates</a:t>
            </a:r>
            <a:endParaRPr lang="en-US" sz="1500" dirty="0"/>
          </a:p>
          <a:p>
            <a:pPr marL="342900" indent="-342900">
              <a:spcAft>
                <a:spcPts val="1000"/>
              </a:spcAft>
              <a:buSzPct val="100000"/>
              <a:buChar char="•"/>
            </a:pPr>
            <a:r>
              <a:rPr lang="en-US" sz="1500" dirty="0">
                <a:solidFill>
                  <a:schemeClr val="tx1"/>
                </a:solidFill>
              </a:rPr>
              <a:t>Full audit trail of every officer action</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algn="l" indent="0" marL="0">
              <a:buNone/>
            </a:pPr>
            <a:r>
              <a:rPr lang="en-US" sz="3200" b="1" dirty="0">
                <a:solidFill>
                  <a:schemeClr val="tx1"/>
                </a:solidFill>
                <a:latin typeface="Arial" pitchFamily="34" charset="0"/>
                <a:ea typeface="Arial" pitchFamily="34" charset="-122"/>
                <a:cs typeface="Arial" pitchFamily="34" charset="-120"/>
              </a:rPr>
              <a:t>Benefits for students, schools and TRA</a:t>
            </a:r>
            <a:endParaRPr lang="en-US" sz="3200" dirty="0"/>
          </a:p>
        </p:txBody>
      </p:sp>
      <p:sp>
        <p:nvSpPr>
          <p:cNvPr id="3" name="Students card"/>
          <p:cNvSpPr/>
          <p:nvPr/>
        </p:nvSpPr>
        <p:spPr>
          <a:xfrm>
            <a:off x="548640" y="1463040"/>
            <a:ext cx="3520440" cy="4023360"/>
          </a:xfrm>
          <a:prstGeom prst="roundRect">
            <a:avLst>
              <a:gd name="adj" fmla="val 3117"/>
            </a:avLst>
          </a:prstGeom>
          <a:solidFill>
            <a:schemeClr val="bg2"/>
          </a:solidFill>
          <a:ln/>
        </p:spPr>
      </p:sp>
      <p:sp>
        <p:nvSpPr>
          <p:cNvPr id="4" name="Students circle"/>
          <p:cNvSpPr/>
          <p:nvPr/>
        </p:nvSpPr>
        <p:spPr>
          <a:xfrm>
            <a:off x="868680" y="1737360"/>
            <a:ext cx="685800" cy="685800"/>
          </a:xfrm>
          <a:prstGeom prst="ellipse">
            <a:avLst/>
          </a:prstGeom>
          <a:solidFill>
            <a:schemeClr val="accent1"/>
          </a:solidFill>
          <a:ln/>
        </p:spPr>
      </p:sp>
      <p:pic>
        <p:nvPicPr>
          <p:cNvPr id="5" name="Students" descr="Students">    </p:cNvPr>
          <p:cNvPicPr>
            <a:picLocks noChangeAspect="1"/>
          </p:cNvPicPr>
          <p:nvPr/>
        </p:nvPicPr>
        <p:blipFill>
          <a:blip r:embed="rId1"/>
          <a:stretch>
            <a:fillRect/>
          </a:stretch>
        </p:blipFill>
        <p:spPr>
          <a:xfrm>
            <a:off x="1053846" y="1922526"/>
            <a:ext cx="315468" cy="315468"/>
          </a:xfrm>
          <a:prstGeom prst="rect">
            <a:avLst/>
          </a:prstGeom>
        </p:spPr>
      </p:pic>
      <p:sp>
        <p:nvSpPr>
          <p:cNvPr id="6" name="Text 3"/>
          <p:cNvSpPr txBox="1"/>
          <p:nvPr/>
        </p:nvSpPr>
        <p:spPr>
          <a:xfrm>
            <a:off x="868680" y="2606040"/>
            <a:ext cx="2926080" cy="457200"/>
          </a:xfrm>
          <a:prstGeom prst="rect">
            <a:avLst/>
          </a:prstGeom>
          <a:noFill/>
          <a:ln/>
        </p:spPr>
        <p:txBody>
          <a:bodyPr wrap="square" lIns="0" tIns="0" rIns="0" bIns="0" rtlCol="0" anchor="t"/>
          <a:lstStyle/>
          <a:p>
            <a:pPr indent="0" marL="0">
              <a:buNone/>
            </a:pPr>
            <a:r>
              <a:rPr lang="en-US" sz="2200" b="1" dirty="0">
                <a:solidFill>
                  <a:schemeClr val="tx1"/>
                </a:solidFill>
                <a:latin typeface="Arial" pitchFamily="34" charset="0"/>
                <a:ea typeface="Arial" pitchFamily="34" charset="-122"/>
                <a:cs typeface="Arial" pitchFamily="34" charset="-120"/>
              </a:rPr>
              <a:t>Students</a:t>
            </a:r>
            <a:endParaRPr lang="en-US" sz="2200" dirty="0"/>
          </a:p>
        </p:txBody>
      </p:sp>
      <p:sp>
        <p:nvSpPr>
          <p:cNvPr id="7" name="Text 4"/>
          <p:cNvSpPr txBox="1"/>
          <p:nvPr/>
        </p:nvSpPr>
        <p:spPr>
          <a:xfrm>
            <a:off x="868680" y="3200400"/>
            <a:ext cx="2926080" cy="2651760"/>
          </a:xfrm>
          <a:prstGeom prst="rect">
            <a:avLst/>
          </a:prstGeom>
          <a:noFill/>
          <a:ln/>
        </p:spPr>
        <p:txBody>
          <a:bodyPr wrap="square" lIns="0" tIns="0" rIns="0" bIns="0" rtlCol="0" anchor="t"/>
          <a:lstStyle/>
          <a:p>
            <a:pPr marL="342900" indent="-342900">
              <a:spcAft>
                <a:spcPts val="900"/>
              </a:spcAft>
              <a:buSzPct val="100000"/>
              <a:buChar char="•"/>
            </a:pPr>
            <a:r>
              <a:rPr lang="en-US" sz="1500" dirty="0">
                <a:solidFill>
                  <a:schemeClr val="tx1"/>
                </a:solidFill>
              </a:rPr>
              <a:t>Free, practical tax and money skills</a:t>
            </a:r>
            <a:endParaRPr lang="en-US" sz="1500" dirty="0"/>
          </a:p>
          <a:p>
            <a:pPr marL="342900" indent="-342900">
              <a:spcAft>
                <a:spcPts val="900"/>
              </a:spcAft>
              <a:buSzPct val="100000"/>
              <a:buChar char="•"/>
            </a:pPr>
            <a:r>
              <a:rPr lang="en-US" sz="1500" dirty="0">
                <a:solidFill>
                  <a:schemeClr val="tx1"/>
                </a:solidFill>
              </a:rPr>
              <a:t>Points, badges and certificates</a:t>
            </a:r>
            <a:endParaRPr lang="en-US" sz="1500" dirty="0"/>
          </a:p>
          <a:p>
            <a:pPr marL="342900" indent="-342900">
              <a:spcAft>
                <a:spcPts val="900"/>
              </a:spcAft>
              <a:buSzPct val="100000"/>
              <a:buChar char="•"/>
            </a:pPr>
            <a:r>
              <a:rPr lang="en-US" sz="1500" dirty="0">
                <a:solidFill>
                  <a:schemeClr val="tx1"/>
                </a:solidFill>
              </a:rPr>
              <a:t>Career opportunities and mentors</a:t>
            </a:r>
            <a:endParaRPr lang="en-US" sz="1500" dirty="0"/>
          </a:p>
          <a:p>
            <a:pPr marL="342900" indent="-342900">
              <a:spcAft>
                <a:spcPts val="900"/>
              </a:spcAft>
              <a:buSzPct val="100000"/>
              <a:buChar char="•"/>
            </a:pPr>
            <a:r>
              <a:rPr lang="en-US" sz="1500" dirty="0">
                <a:solidFill>
                  <a:schemeClr val="tx1"/>
                </a:solidFill>
              </a:rPr>
              <a:t>A voice: Ask TRA and feedback</a:t>
            </a:r>
            <a:endParaRPr lang="en-US" sz="1500" dirty="0"/>
          </a:p>
        </p:txBody>
      </p:sp>
      <p:sp>
        <p:nvSpPr>
          <p:cNvPr id="8" name="Schools &amp; patrons card"/>
          <p:cNvSpPr/>
          <p:nvPr/>
        </p:nvSpPr>
        <p:spPr>
          <a:xfrm>
            <a:off x="4297680" y="1463040"/>
            <a:ext cx="3520440" cy="4023360"/>
          </a:xfrm>
          <a:prstGeom prst="roundRect">
            <a:avLst>
              <a:gd name="adj" fmla="val 3117"/>
            </a:avLst>
          </a:prstGeom>
          <a:solidFill>
            <a:schemeClr val="bg2"/>
          </a:solidFill>
          <a:ln/>
        </p:spPr>
      </p:sp>
      <p:sp>
        <p:nvSpPr>
          <p:cNvPr id="9" name="Schools &amp; patrons circle"/>
          <p:cNvSpPr/>
          <p:nvPr/>
        </p:nvSpPr>
        <p:spPr>
          <a:xfrm>
            <a:off x="4617720" y="1737360"/>
            <a:ext cx="685800" cy="685800"/>
          </a:xfrm>
          <a:prstGeom prst="ellipse">
            <a:avLst/>
          </a:prstGeom>
          <a:solidFill>
            <a:schemeClr val="accent1"/>
          </a:solidFill>
          <a:ln/>
        </p:spPr>
      </p:sp>
      <p:pic>
        <p:nvPicPr>
          <p:cNvPr id="10" name="Schools &amp; patrons" descr="Schools &amp; patrons">    </p:cNvPr>
          <p:cNvPicPr>
            <a:picLocks noChangeAspect="1"/>
          </p:cNvPicPr>
          <p:nvPr/>
        </p:nvPicPr>
        <p:blipFill>
          <a:blip r:embed="rId2"/>
          <a:stretch>
            <a:fillRect/>
          </a:stretch>
        </p:blipFill>
        <p:spPr>
          <a:xfrm>
            <a:off x="4802886" y="1922526"/>
            <a:ext cx="315468" cy="315468"/>
          </a:xfrm>
          <a:prstGeom prst="rect">
            <a:avLst/>
          </a:prstGeom>
        </p:spPr>
      </p:pic>
      <p:sp>
        <p:nvSpPr>
          <p:cNvPr id="11" name="Text 7"/>
          <p:cNvSpPr txBox="1"/>
          <p:nvPr/>
        </p:nvSpPr>
        <p:spPr>
          <a:xfrm>
            <a:off x="4617720" y="2606040"/>
            <a:ext cx="2926080" cy="457200"/>
          </a:xfrm>
          <a:prstGeom prst="rect">
            <a:avLst/>
          </a:prstGeom>
          <a:noFill/>
          <a:ln/>
        </p:spPr>
        <p:txBody>
          <a:bodyPr wrap="square" lIns="0" tIns="0" rIns="0" bIns="0" rtlCol="0" anchor="t"/>
          <a:lstStyle/>
          <a:p>
            <a:pPr indent="0" marL="0">
              <a:buNone/>
            </a:pPr>
            <a:r>
              <a:rPr lang="en-US" sz="2200" b="1" dirty="0">
                <a:solidFill>
                  <a:schemeClr val="tx1"/>
                </a:solidFill>
                <a:latin typeface="Arial" pitchFamily="34" charset="0"/>
                <a:ea typeface="Arial" pitchFamily="34" charset="-122"/>
                <a:cs typeface="Arial" pitchFamily="34" charset="-120"/>
              </a:rPr>
              <a:t>Schools &amp; patrons</a:t>
            </a:r>
            <a:endParaRPr lang="en-US" sz="2200" dirty="0"/>
          </a:p>
        </p:txBody>
      </p:sp>
      <p:sp>
        <p:nvSpPr>
          <p:cNvPr id="12" name="Text 8"/>
          <p:cNvSpPr txBox="1"/>
          <p:nvPr/>
        </p:nvSpPr>
        <p:spPr>
          <a:xfrm>
            <a:off x="4617720" y="3200400"/>
            <a:ext cx="2926080" cy="2651760"/>
          </a:xfrm>
          <a:prstGeom prst="rect">
            <a:avLst/>
          </a:prstGeom>
          <a:noFill/>
          <a:ln/>
        </p:spPr>
        <p:txBody>
          <a:bodyPr wrap="square" lIns="0" tIns="0" rIns="0" bIns="0" rtlCol="0" anchor="t"/>
          <a:lstStyle/>
          <a:p>
            <a:pPr marL="342900" indent="-342900">
              <a:spcAft>
                <a:spcPts val="900"/>
              </a:spcAft>
              <a:buSzPct val="100000"/>
              <a:buChar char="•"/>
            </a:pPr>
            <a:r>
              <a:rPr lang="en-US" sz="1500" dirty="0">
                <a:solidFill>
                  <a:schemeClr val="tx1"/>
                </a:solidFill>
              </a:rPr>
              <a:t>Ready-made, approved lesson material</a:t>
            </a:r>
            <a:endParaRPr lang="en-US" sz="1500" dirty="0"/>
          </a:p>
          <a:p>
            <a:pPr marL="342900" indent="-342900">
              <a:spcAft>
                <a:spcPts val="900"/>
              </a:spcAft>
              <a:buSzPct val="100000"/>
              <a:buChar char="•"/>
            </a:pPr>
            <a:r>
              <a:rPr lang="en-US" sz="1500" dirty="0">
                <a:solidFill>
                  <a:schemeClr val="tx1"/>
                </a:solidFill>
              </a:rPr>
              <a:t>Simple member management</a:t>
            </a:r>
            <a:endParaRPr lang="en-US" sz="1500" dirty="0"/>
          </a:p>
          <a:p>
            <a:pPr marL="342900" indent="-342900">
              <a:spcAft>
                <a:spcPts val="900"/>
              </a:spcAft>
              <a:buSzPct val="100000"/>
              <a:buChar char="•"/>
            </a:pPr>
            <a:r>
              <a:rPr lang="en-US" sz="1500" dirty="0">
                <a:solidFill>
                  <a:schemeClr val="tx1"/>
                </a:solidFill>
              </a:rPr>
              <a:t>Recognition in national competitions</a:t>
            </a:r>
            <a:endParaRPr lang="en-US" sz="1500" dirty="0"/>
          </a:p>
          <a:p>
            <a:pPr marL="342900" indent="-342900">
              <a:spcAft>
                <a:spcPts val="900"/>
              </a:spcAft>
              <a:buSzPct val="100000"/>
              <a:buChar char="•"/>
            </a:pPr>
            <a:r>
              <a:rPr lang="en-US" sz="1500" dirty="0">
                <a:solidFill>
                  <a:schemeClr val="tx1"/>
                </a:solidFill>
              </a:rPr>
              <a:t>Club activity they can report</a:t>
            </a:r>
            <a:endParaRPr lang="en-US" sz="1500" dirty="0"/>
          </a:p>
        </p:txBody>
      </p:sp>
      <p:sp>
        <p:nvSpPr>
          <p:cNvPr id="13" name="TRA card"/>
          <p:cNvSpPr/>
          <p:nvPr/>
        </p:nvSpPr>
        <p:spPr>
          <a:xfrm>
            <a:off x="8046720" y="1463040"/>
            <a:ext cx="3520440" cy="4023360"/>
          </a:xfrm>
          <a:prstGeom prst="roundRect">
            <a:avLst>
              <a:gd name="adj" fmla="val 3117"/>
            </a:avLst>
          </a:prstGeom>
          <a:solidFill>
            <a:schemeClr val="tx1"/>
          </a:solidFill>
          <a:ln/>
        </p:spPr>
      </p:sp>
      <p:sp>
        <p:nvSpPr>
          <p:cNvPr id="14" name="TRA circle"/>
          <p:cNvSpPr/>
          <p:nvPr/>
        </p:nvSpPr>
        <p:spPr>
          <a:xfrm>
            <a:off x="8366760" y="1737360"/>
            <a:ext cx="685800" cy="685800"/>
          </a:xfrm>
          <a:prstGeom prst="ellipse">
            <a:avLst/>
          </a:prstGeom>
          <a:solidFill>
            <a:schemeClr val="accent1"/>
          </a:solidFill>
          <a:ln/>
        </p:spPr>
      </p:sp>
      <p:pic>
        <p:nvPicPr>
          <p:cNvPr id="15" name="TRA" descr="TRA">    </p:cNvPr>
          <p:cNvPicPr>
            <a:picLocks noChangeAspect="1"/>
          </p:cNvPicPr>
          <p:nvPr/>
        </p:nvPicPr>
        <p:blipFill>
          <a:blip r:embed="rId3"/>
          <a:stretch>
            <a:fillRect/>
          </a:stretch>
        </p:blipFill>
        <p:spPr>
          <a:xfrm>
            <a:off x="8551926" y="1922526"/>
            <a:ext cx="315468" cy="315468"/>
          </a:xfrm>
          <a:prstGeom prst="rect">
            <a:avLst/>
          </a:prstGeom>
        </p:spPr>
      </p:pic>
      <p:sp>
        <p:nvSpPr>
          <p:cNvPr id="16" name="Text 11"/>
          <p:cNvSpPr txBox="1"/>
          <p:nvPr/>
        </p:nvSpPr>
        <p:spPr>
          <a:xfrm>
            <a:off x="8366760" y="2606040"/>
            <a:ext cx="2926080" cy="457200"/>
          </a:xfrm>
          <a:prstGeom prst="rect">
            <a:avLst/>
          </a:prstGeom>
          <a:noFill/>
          <a:ln/>
        </p:spPr>
        <p:txBody>
          <a:bodyPr wrap="square" lIns="0" tIns="0" rIns="0" bIns="0" rtlCol="0" anchor="t"/>
          <a:lstStyle/>
          <a:p>
            <a:pPr indent="0" marL="0">
              <a:buNone/>
            </a:pPr>
            <a:r>
              <a:rPr lang="en-US" sz="2200" b="1" dirty="0">
                <a:solidFill>
                  <a:schemeClr val="accent1"/>
                </a:solidFill>
                <a:latin typeface="Arial" pitchFamily="34" charset="0"/>
                <a:ea typeface="Arial" pitchFamily="34" charset="-122"/>
                <a:cs typeface="Arial" pitchFamily="34" charset="-120"/>
              </a:rPr>
              <a:t>TRA</a:t>
            </a:r>
            <a:endParaRPr lang="en-US" sz="2200" dirty="0"/>
          </a:p>
        </p:txBody>
      </p:sp>
      <p:sp>
        <p:nvSpPr>
          <p:cNvPr id="17" name="Text 12"/>
          <p:cNvSpPr txBox="1"/>
          <p:nvPr/>
        </p:nvSpPr>
        <p:spPr>
          <a:xfrm>
            <a:off x="8366760" y="3200400"/>
            <a:ext cx="2926080" cy="2651760"/>
          </a:xfrm>
          <a:prstGeom prst="rect">
            <a:avLst/>
          </a:prstGeom>
          <a:noFill/>
          <a:ln/>
        </p:spPr>
        <p:txBody>
          <a:bodyPr wrap="square" lIns="0" tIns="0" rIns="0" bIns="0" rtlCol="0" anchor="t"/>
          <a:lstStyle/>
          <a:p>
            <a:pPr marL="342900" indent="-342900">
              <a:spcAft>
                <a:spcPts val="900"/>
              </a:spcAft>
              <a:buSzPct val="100000"/>
              <a:buChar char="•"/>
            </a:pPr>
            <a:r>
              <a:rPr lang="en-US" sz="1500" dirty="0">
                <a:solidFill>
                  <a:schemeClr val="bg1"/>
                </a:solidFill>
              </a:rPr>
              <a:t>Reach every region at low cost</a:t>
            </a:r>
            <a:endParaRPr lang="en-US" sz="1500" dirty="0"/>
          </a:p>
          <a:p>
            <a:pPr marL="342900" indent="-342900">
              <a:spcAft>
                <a:spcPts val="900"/>
              </a:spcAft>
              <a:buSzPct val="100000"/>
              <a:buChar char="•"/>
            </a:pPr>
            <a:r>
              <a:rPr lang="en-US" sz="1500" dirty="0">
                <a:solidFill>
                  <a:schemeClr val="bg1"/>
                </a:solidFill>
              </a:rPr>
              <a:t>A consistent national message</a:t>
            </a:r>
            <a:endParaRPr lang="en-US" sz="1500" dirty="0"/>
          </a:p>
          <a:p>
            <a:pPr marL="342900" indent="-342900">
              <a:spcAft>
                <a:spcPts val="900"/>
              </a:spcAft>
              <a:buSzPct val="100000"/>
              <a:buChar char="•"/>
            </a:pPr>
            <a:r>
              <a:rPr lang="en-US" sz="1500" dirty="0">
                <a:solidFill>
                  <a:schemeClr val="bg1"/>
                </a:solidFill>
              </a:rPr>
              <a:t>Data to plan and report outreach</a:t>
            </a:r>
            <a:endParaRPr lang="en-US" sz="1500" dirty="0"/>
          </a:p>
          <a:p>
            <a:pPr marL="342900" indent="-342900">
              <a:spcAft>
                <a:spcPts val="900"/>
              </a:spcAft>
              <a:buSzPct val="100000"/>
              <a:buChar char="•"/>
            </a:pPr>
            <a:r>
              <a:rPr lang="en-US" sz="1500" dirty="0">
                <a:solidFill>
                  <a:schemeClr val="bg1"/>
                </a:solidFill>
              </a:rPr>
              <a:t>Early relationship with future taxpayers</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algn="l" indent="0" marL="0">
              <a:buNone/>
            </a:pPr>
            <a:r>
              <a:rPr lang="en-US" sz="3200" b="1" dirty="0">
                <a:solidFill>
                  <a:schemeClr val="tx1"/>
                </a:solidFill>
                <a:latin typeface="Arial" pitchFamily="34" charset="0"/>
                <a:ea typeface="Arial" pitchFamily="34" charset="-122"/>
                <a:cs typeface="Arial" pitchFamily="34" charset="-120"/>
              </a:rPr>
              <a:t>What TRA will achieve, and how we will measure it</a:t>
            </a:r>
            <a:endParaRPr lang="en-US" sz="3200" dirty="0"/>
          </a:p>
        </p:txBody>
      </p:sp>
      <p:sp>
        <p:nvSpPr>
          <p:cNvPr id="3" name="Text 1"/>
          <p:cNvSpPr txBox="1"/>
          <p:nvPr/>
        </p:nvSpPr>
        <p:spPr>
          <a:xfrm>
            <a:off x="548640" y="1417320"/>
            <a:ext cx="3108960" cy="320040"/>
          </a:xfrm>
          <a:prstGeom prst="rect">
            <a:avLst/>
          </a:prstGeom>
          <a:noFill/>
          <a:ln/>
        </p:spPr>
        <p:txBody>
          <a:bodyPr wrap="square" lIns="0" tIns="0" rIns="0" bIns="0" rtlCol="0" anchor="t"/>
          <a:lstStyle/>
          <a:p>
            <a:pPr indent="0" marL="0">
              <a:buNone/>
            </a:pPr>
            <a:r>
              <a:rPr lang="en-US" sz="1300" b="1" dirty="0">
                <a:solidFill>
                  <a:schemeClr val="tx2"/>
                </a:solidFill>
              </a:rPr>
              <a:t>Outcome</a:t>
            </a:r>
            <a:endParaRPr lang="en-US" sz="1300" dirty="0"/>
          </a:p>
        </p:txBody>
      </p:sp>
      <p:sp>
        <p:nvSpPr>
          <p:cNvPr id="4" name="Text 2"/>
          <p:cNvSpPr txBox="1"/>
          <p:nvPr/>
        </p:nvSpPr>
        <p:spPr>
          <a:xfrm>
            <a:off x="3840480" y="1417320"/>
            <a:ext cx="4023360" cy="320040"/>
          </a:xfrm>
          <a:prstGeom prst="rect">
            <a:avLst/>
          </a:prstGeom>
          <a:noFill/>
          <a:ln/>
        </p:spPr>
        <p:txBody>
          <a:bodyPr wrap="square" lIns="0" tIns="0" rIns="0" bIns="0" rtlCol="0" anchor="t"/>
          <a:lstStyle/>
          <a:p>
            <a:pPr indent="0" marL="0">
              <a:buNone/>
            </a:pPr>
            <a:r>
              <a:rPr lang="en-US" sz="1300" b="1" dirty="0">
                <a:solidFill>
                  <a:schemeClr val="tx2"/>
                </a:solidFill>
              </a:rPr>
              <a:t>How the platform delivers it</a:t>
            </a:r>
            <a:endParaRPr lang="en-US" sz="1300" dirty="0"/>
          </a:p>
        </p:txBody>
      </p:sp>
      <p:sp>
        <p:nvSpPr>
          <p:cNvPr id="5" name="Text 3"/>
          <p:cNvSpPr txBox="1"/>
          <p:nvPr/>
        </p:nvSpPr>
        <p:spPr>
          <a:xfrm>
            <a:off x="8092440" y="1417320"/>
            <a:ext cx="3566160" cy="320040"/>
          </a:xfrm>
          <a:prstGeom prst="rect">
            <a:avLst/>
          </a:prstGeom>
          <a:noFill/>
          <a:ln/>
        </p:spPr>
        <p:txBody>
          <a:bodyPr wrap="square" lIns="0" tIns="0" rIns="0" bIns="0" rtlCol="0" anchor="t"/>
          <a:lstStyle/>
          <a:p>
            <a:pPr indent="0" marL="0">
              <a:buNone/>
            </a:pPr>
            <a:r>
              <a:rPr lang="en-US" sz="1300" b="1" dirty="0">
                <a:solidFill>
                  <a:schemeClr val="tx2"/>
                </a:solidFill>
              </a:rPr>
              <a:t>Measured on the platform (KPI)</a:t>
            </a:r>
            <a:endParaRPr lang="en-US" sz="1300" dirty="0"/>
          </a:p>
        </p:txBody>
      </p:sp>
      <p:sp>
        <p:nvSpPr>
          <p:cNvPr id="6" name="Outcome row 1"/>
          <p:cNvSpPr/>
          <p:nvPr/>
        </p:nvSpPr>
        <p:spPr>
          <a:xfrm>
            <a:off x="548640" y="1828800"/>
            <a:ext cx="11064240" cy="914400"/>
          </a:xfrm>
          <a:prstGeom prst="roundRect">
            <a:avLst>
              <a:gd name="adj" fmla="val 12000"/>
            </a:avLst>
          </a:prstGeom>
          <a:solidFill>
            <a:schemeClr val="bg2"/>
          </a:solidFill>
          <a:ln/>
        </p:spPr>
      </p:sp>
      <p:sp>
        <p:nvSpPr>
          <p:cNvPr id="7" name="Text 5"/>
          <p:cNvSpPr txBox="1"/>
          <p:nvPr/>
        </p:nvSpPr>
        <p:spPr>
          <a:xfrm>
            <a:off x="777240" y="1920240"/>
            <a:ext cx="2926080" cy="731520"/>
          </a:xfrm>
          <a:prstGeom prst="rect">
            <a:avLst/>
          </a:prstGeom>
          <a:noFill/>
          <a:ln/>
        </p:spPr>
        <p:txBody>
          <a:bodyPr wrap="square" lIns="0" tIns="0" rIns="0" bIns="0" rtlCol="0" anchor="ctr"/>
          <a:lstStyle/>
          <a:p>
            <a:pPr indent="0" marL="0">
              <a:buNone/>
            </a:pPr>
            <a:r>
              <a:rPr lang="en-US" sz="1700" b="1" dirty="0">
                <a:solidFill>
                  <a:schemeClr val="tx1"/>
                </a:solidFill>
                <a:latin typeface="Arial" pitchFamily="34" charset="0"/>
                <a:ea typeface="Arial" pitchFamily="34" charset="-122"/>
                <a:cs typeface="Arial" pitchFamily="34" charset="-120"/>
              </a:rPr>
              <a:t>Wider taxpayer base</a:t>
            </a:r>
            <a:endParaRPr lang="en-US" sz="1700" dirty="0"/>
          </a:p>
        </p:txBody>
      </p:sp>
      <p:sp>
        <p:nvSpPr>
          <p:cNvPr id="8" name="Text 6"/>
          <p:cNvSpPr txBox="1"/>
          <p:nvPr/>
        </p:nvSpPr>
        <p:spPr>
          <a:xfrm>
            <a:off x="3840480" y="1920240"/>
            <a:ext cx="4023360" cy="731520"/>
          </a:xfrm>
          <a:prstGeom prst="rect">
            <a:avLst/>
          </a:prstGeom>
          <a:noFill/>
          <a:ln/>
        </p:spPr>
        <p:txBody>
          <a:bodyPr wrap="square" lIns="0" tIns="0" rIns="0" bIns="0" rtlCol="0" anchor="ctr"/>
          <a:lstStyle/>
          <a:p>
            <a:pPr indent="0" marL="0">
              <a:buNone/>
            </a:pPr>
            <a:r>
              <a:rPr lang="en-US" sz="1400" dirty="0">
                <a:solidFill>
                  <a:schemeClr val="tx2"/>
                </a:solidFill>
              </a:rPr>
              <a:t>College and university members join with a TIN; those without one are guided to TRA's TIN registration.</a:t>
            </a:r>
            <a:endParaRPr lang="en-US" sz="1400" dirty="0"/>
          </a:p>
        </p:txBody>
      </p:sp>
      <p:sp>
        <p:nvSpPr>
          <p:cNvPr id="9" name="KPI 1"/>
          <p:cNvSpPr/>
          <p:nvPr/>
        </p:nvSpPr>
        <p:spPr>
          <a:xfrm>
            <a:off x="8092440" y="1965960"/>
            <a:ext cx="3337560" cy="640080"/>
          </a:xfrm>
          <a:prstGeom prst="roundRect">
            <a:avLst>
              <a:gd name="adj" fmla="val 14286"/>
            </a:avLst>
          </a:prstGeom>
          <a:solidFill>
            <a:schemeClr val="accent1"/>
          </a:solidFill>
          <a:ln/>
        </p:spPr>
      </p:sp>
      <p:sp>
        <p:nvSpPr>
          <p:cNvPr id="10" name="Text 8"/>
          <p:cNvSpPr txBox="1"/>
          <p:nvPr/>
        </p:nvSpPr>
        <p:spPr>
          <a:xfrm>
            <a:off x="8229600" y="1965960"/>
            <a:ext cx="3108960" cy="640080"/>
          </a:xfrm>
          <a:prstGeom prst="rect">
            <a:avLst/>
          </a:prstGeom>
          <a:noFill/>
          <a:ln/>
        </p:spPr>
        <p:txBody>
          <a:bodyPr wrap="square" lIns="0" tIns="0" rIns="0" bIns="0" rtlCol="0" anchor="ctr"/>
          <a:lstStyle/>
          <a:p>
            <a:pPr indent="0" marL="0">
              <a:buNone/>
            </a:pPr>
            <a:r>
              <a:rPr lang="en-US" sz="1300" b="1" dirty="0">
                <a:solidFill>
                  <a:schemeClr val="tx1"/>
                </a:solidFill>
              </a:rPr>
              <a:t>TINs given at registration · clicks to TIN registration</a:t>
            </a:r>
            <a:endParaRPr lang="en-US" sz="1300" dirty="0"/>
          </a:p>
        </p:txBody>
      </p:sp>
      <p:sp>
        <p:nvSpPr>
          <p:cNvPr id="11" name="Outcome row 2"/>
          <p:cNvSpPr/>
          <p:nvPr/>
        </p:nvSpPr>
        <p:spPr>
          <a:xfrm>
            <a:off x="548640" y="2880360"/>
            <a:ext cx="11064240" cy="914400"/>
          </a:xfrm>
          <a:prstGeom prst="roundRect">
            <a:avLst>
              <a:gd name="adj" fmla="val 12000"/>
            </a:avLst>
          </a:prstGeom>
          <a:solidFill>
            <a:schemeClr val="bg1"/>
          </a:solidFill>
          <a:ln/>
        </p:spPr>
      </p:sp>
      <p:sp>
        <p:nvSpPr>
          <p:cNvPr id="12" name="Text 10"/>
          <p:cNvSpPr txBox="1"/>
          <p:nvPr/>
        </p:nvSpPr>
        <p:spPr>
          <a:xfrm>
            <a:off x="777240" y="2971800"/>
            <a:ext cx="2926080" cy="731520"/>
          </a:xfrm>
          <a:prstGeom prst="rect">
            <a:avLst/>
          </a:prstGeom>
          <a:noFill/>
          <a:ln/>
        </p:spPr>
        <p:txBody>
          <a:bodyPr wrap="square" lIns="0" tIns="0" rIns="0" bIns="0" rtlCol="0" anchor="ctr"/>
          <a:lstStyle/>
          <a:p>
            <a:pPr indent="0" marL="0">
              <a:buNone/>
            </a:pPr>
            <a:r>
              <a:rPr lang="en-US" sz="1700" b="1" dirty="0">
                <a:solidFill>
                  <a:schemeClr val="tx1"/>
                </a:solidFill>
                <a:latin typeface="Arial" pitchFamily="34" charset="0"/>
                <a:ea typeface="Arial" pitchFamily="34" charset="-122"/>
                <a:cs typeface="Arial" pitchFamily="34" charset="-120"/>
              </a:rPr>
              <a:t>A culture of voluntary compliance</a:t>
            </a:r>
            <a:endParaRPr lang="en-US" sz="1700" dirty="0"/>
          </a:p>
        </p:txBody>
      </p:sp>
      <p:sp>
        <p:nvSpPr>
          <p:cNvPr id="13" name="Text 11"/>
          <p:cNvSpPr txBox="1"/>
          <p:nvPr/>
        </p:nvSpPr>
        <p:spPr>
          <a:xfrm>
            <a:off x="3840480" y="2971800"/>
            <a:ext cx="4023360" cy="731520"/>
          </a:xfrm>
          <a:prstGeom prst="rect">
            <a:avLst/>
          </a:prstGeom>
          <a:noFill/>
          <a:ln/>
        </p:spPr>
        <p:txBody>
          <a:bodyPr wrap="square" lIns="0" tIns="0" rIns="0" bIns="0" rtlCol="0" anchor="ctr"/>
          <a:lstStyle/>
          <a:p>
            <a:pPr indent="0" marL="0">
              <a:buNone/>
            </a:pPr>
            <a:r>
              <a:rPr lang="en-US" sz="1400" dirty="0">
                <a:solidFill>
                  <a:schemeClr val="tx2"/>
                </a:solidFill>
              </a:rPr>
              <a:t>Every member learns their rights and duties, VAT and EFD receipts, through approved lessons.</a:t>
            </a:r>
            <a:endParaRPr lang="en-US" sz="1400" dirty="0"/>
          </a:p>
        </p:txBody>
      </p:sp>
      <p:sp>
        <p:nvSpPr>
          <p:cNvPr id="14" name="KPI 2"/>
          <p:cNvSpPr/>
          <p:nvPr/>
        </p:nvSpPr>
        <p:spPr>
          <a:xfrm>
            <a:off x="8092440" y="3017520"/>
            <a:ext cx="3337560" cy="640080"/>
          </a:xfrm>
          <a:prstGeom prst="roundRect">
            <a:avLst>
              <a:gd name="adj" fmla="val 14286"/>
            </a:avLst>
          </a:prstGeom>
          <a:solidFill>
            <a:schemeClr val="accent1"/>
          </a:solidFill>
          <a:ln/>
        </p:spPr>
      </p:sp>
      <p:sp>
        <p:nvSpPr>
          <p:cNvPr id="15" name="Text 13"/>
          <p:cNvSpPr txBox="1"/>
          <p:nvPr/>
        </p:nvSpPr>
        <p:spPr>
          <a:xfrm>
            <a:off x="8229600" y="3017520"/>
            <a:ext cx="3108960" cy="640080"/>
          </a:xfrm>
          <a:prstGeom prst="rect">
            <a:avLst/>
          </a:prstGeom>
          <a:noFill/>
          <a:ln/>
        </p:spPr>
        <p:txBody>
          <a:bodyPr wrap="square" lIns="0" tIns="0" rIns="0" bIns="0" rtlCol="0" anchor="ctr"/>
          <a:lstStyle/>
          <a:p>
            <a:pPr indent="0" marL="0">
              <a:buNone/>
            </a:pPr>
            <a:r>
              <a:rPr lang="en-US" sz="1300" b="1" dirty="0">
                <a:solidFill>
                  <a:schemeClr val="tx1"/>
                </a:solidFill>
              </a:rPr>
              <a:t>Lessons completed · quiz pass rate · receipt campaign entries</a:t>
            </a:r>
            <a:endParaRPr lang="en-US" sz="1300" dirty="0"/>
          </a:p>
        </p:txBody>
      </p:sp>
      <p:sp>
        <p:nvSpPr>
          <p:cNvPr id="16" name="Outcome row 3"/>
          <p:cNvSpPr/>
          <p:nvPr/>
        </p:nvSpPr>
        <p:spPr>
          <a:xfrm>
            <a:off x="548640" y="3931920"/>
            <a:ext cx="11064240" cy="914400"/>
          </a:xfrm>
          <a:prstGeom prst="roundRect">
            <a:avLst>
              <a:gd name="adj" fmla="val 12000"/>
            </a:avLst>
          </a:prstGeom>
          <a:solidFill>
            <a:schemeClr val="bg2"/>
          </a:solidFill>
          <a:ln/>
        </p:spPr>
      </p:sp>
      <p:sp>
        <p:nvSpPr>
          <p:cNvPr id="17" name="Text 15"/>
          <p:cNvSpPr txBox="1"/>
          <p:nvPr/>
        </p:nvSpPr>
        <p:spPr>
          <a:xfrm>
            <a:off x="777240" y="4023360"/>
            <a:ext cx="2926080" cy="731520"/>
          </a:xfrm>
          <a:prstGeom prst="rect">
            <a:avLst/>
          </a:prstGeom>
          <a:noFill/>
          <a:ln/>
        </p:spPr>
        <p:txBody>
          <a:bodyPr wrap="square" lIns="0" tIns="0" rIns="0" bIns="0" rtlCol="0" anchor="ctr"/>
          <a:lstStyle/>
          <a:p>
            <a:pPr indent="0" marL="0">
              <a:buNone/>
            </a:pPr>
            <a:r>
              <a:rPr lang="en-US" sz="1700" b="1" dirty="0">
                <a:solidFill>
                  <a:schemeClr val="tx1"/>
                </a:solidFill>
                <a:latin typeface="Arial" pitchFamily="34" charset="0"/>
                <a:ea typeface="Arial" pitchFamily="34" charset="-122"/>
                <a:cs typeface="Arial" pitchFamily="34" charset="-120"/>
              </a:rPr>
              <a:t>Deeper engagement with youth</a:t>
            </a:r>
            <a:endParaRPr lang="en-US" sz="1700" dirty="0"/>
          </a:p>
        </p:txBody>
      </p:sp>
      <p:sp>
        <p:nvSpPr>
          <p:cNvPr id="18" name="Text 16"/>
          <p:cNvSpPr txBox="1"/>
          <p:nvPr/>
        </p:nvSpPr>
        <p:spPr>
          <a:xfrm>
            <a:off x="3840480" y="4023360"/>
            <a:ext cx="4023360" cy="731520"/>
          </a:xfrm>
          <a:prstGeom prst="rect">
            <a:avLst/>
          </a:prstGeom>
          <a:noFill/>
          <a:ln/>
        </p:spPr>
        <p:txBody>
          <a:bodyPr wrap="square" lIns="0" tIns="0" rIns="0" bIns="0" rtlCol="0" anchor="ctr"/>
          <a:lstStyle/>
          <a:p>
            <a:pPr indent="0" marL="0">
              <a:buNone/>
            </a:pPr>
            <a:r>
              <a:rPr lang="en-US" sz="1400" dirty="0">
                <a:solidFill>
                  <a:schemeClr val="tx2"/>
                </a:solidFill>
              </a:rPr>
              <a:t>Two-way contact through Ask TRA, feedback, events and competitions.</a:t>
            </a:r>
            <a:endParaRPr lang="en-US" sz="1400" dirty="0"/>
          </a:p>
        </p:txBody>
      </p:sp>
      <p:sp>
        <p:nvSpPr>
          <p:cNvPr id="19" name="KPI 3"/>
          <p:cNvSpPr/>
          <p:nvPr/>
        </p:nvSpPr>
        <p:spPr>
          <a:xfrm>
            <a:off x="8092440" y="4069080"/>
            <a:ext cx="3337560" cy="640080"/>
          </a:xfrm>
          <a:prstGeom prst="roundRect">
            <a:avLst>
              <a:gd name="adj" fmla="val 14286"/>
            </a:avLst>
          </a:prstGeom>
          <a:solidFill>
            <a:schemeClr val="accent1"/>
          </a:solidFill>
          <a:ln/>
        </p:spPr>
      </p:sp>
      <p:sp>
        <p:nvSpPr>
          <p:cNvPr id="20" name="Text 18"/>
          <p:cNvSpPr txBox="1"/>
          <p:nvPr/>
        </p:nvSpPr>
        <p:spPr>
          <a:xfrm>
            <a:off x="8229600" y="4069080"/>
            <a:ext cx="3108960" cy="640080"/>
          </a:xfrm>
          <a:prstGeom prst="rect">
            <a:avLst/>
          </a:prstGeom>
          <a:noFill/>
          <a:ln/>
        </p:spPr>
        <p:txBody>
          <a:bodyPr wrap="square" lIns="0" tIns="0" rIns="0" bIns="0" rtlCol="0" anchor="ctr"/>
          <a:lstStyle/>
          <a:p>
            <a:pPr indent="0" marL="0">
              <a:buNone/>
            </a:pPr>
            <a:r>
              <a:rPr lang="en-US" sz="1300" b="1" dirty="0">
                <a:solidFill>
                  <a:schemeClr val="tx1"/>
                </a:solidFill>
              </a:rPr>
              <a:t>Questions answered · event attendance by QR · competition entries</a:t>
            </a:r>
            <a:endParaRPr lang="en-US" sz="1300" dirty="0"/>
          </a:p>
        </p:txBody>
      </p:sp>
      <p:sp>
        <p:nvSpPr>
          <p:cNvPr id="21" name="Outcome row 4"/>
          <p:cNvSpPr/>
          <p:nvPr/>
        </p:nvSpPr>
        <p:spPr>
          <a:xfrm>
            <a:off x="548640" y="4983480"/>
            <a:ext cx="11064240" cy="914400"/>
          </a:xfrm>
          <a:prstGeom prst="roundRect">
            <a:avLst>
              <a:gd name="adj" fmla="val 12000"/>
            </a:avLst>
          </a:prstGeom>
          <a:solidFill>
            <a:schemeClr val="bg1"/>
          </a:solidFill>
          <a:ln/>
        </p:spPr>
      </p:sp>
      <p:sp>
        <p:nvSpPr>
          <p:cNvPr id="22" name="Text 20"/>
          <p:cNvSpPr txBox="1"/>
          <p:nvPr/>
        </p:nvSpPr>
        <p:spPr>
          <a:xfrm>
            <a:off x="777240" y="5074920"/>
            <a:ext cx="2926080" cy="731520"/>
          </a:xfrm>
          <a:prstGeom prst="rect">
            <a:avLst/>
          </a:prstGeom>
          <a:noFill/>
          <a:ln/>
        </p:spPr>
        <p:txBody>
          <a:bodyPr wrap="square" lIns="0" tIns="0" rIns="0" bIns="0" rtlCol="0" anchor="ctr"/>
          <a:lstStyle/>
          <a:p>
            <a:pPr indent="0" marL="0">
              <a:buNone/>
            </a:pPr>
            <a:r>
              <a:rPr lang="en-US" sz="1700" b="1" dirty="0">
                <a:solidFill>
                  <a:schemeClr val="tx1"/>
                </a:solidFill>
                <a:latin typeface="Arial" pitchFamily="34" charset="0"/>
                <a:ea typeface="Arial" pitchFamily="34" charset="-122"/>
                <a:cs typeface="Arial" pitchFamily="34" charset="-120"/>
              </a:rPr>
              <a:t>Evidence for planning</a:t>
            </a:r>
            <a:endParaRPr lang="en-US" sz="1700" dirty="0"/>
          </a:p>
        </p:txBody>
      </p:sp>
      <p:sp>
        <p:nvSpPr>
          <p:cNvPr id="23" name="Text 21"/>
          <p:cNvSpPr txBox="1"/>
          <p:nvPr/>
        </p:nvSpPr>
        <p:spPr>
          <a:xfrm>
            <a:off x="3840480" y="5074920"/>
            <a:ext cx="4023360" cy="731520"/>
          </a:xfrm>
          <a:prstGeom prst="rect">
            <a:avLst/>
          </a:prstGeom>
          <a:noFill/>
          <a:ln/>
        </p:spPr>
        <p:txBody>
          <a:bodyPr wrap="square" lIns="0" tIns="0" rIns="0" bIns="0" rtlCol="0" anchor="ctr"/>
          <a:lstStyle/>
          <a:p>
            <a:pPr indent="0" marL="0">
              <a:buNone/>
            </a:pPr>
            <a:r>
              <a:rPr lang="en-US" sz="1400" dirty="0">
                <a:solidFill>
                  <a:schemeClr val="tx2"/>
                </a:solidFill>
              </a:rPr>
              <a:t>Real-time data replaces manual returns from regional offices.</a:t>
            </a:r>
            <a:endParaRPr lang="en-US" sz="1400" dirty="0"/>
          </a:p>
        </p:txBody>
      </p:sp>
      <p:sp>
        <p:nvSpPr>
          <p:cNvPr id="24" name="KPI 4"/>
          <p:cNvSpPr/>
          <p:nvPr/>
        </p:nvSpPr>
        <p:spPr>
          <a:xfrm>
            <a:off x="8092440" y="5120640"/>
            <a:ext cx="3337560" cy="640080"/>
          </a:xfrm>
          <a:prstGeom prst="roundRect">
            <a:avLst>
              <a:gd name="adj" fmla="val 14286"/>
            </a:avLst>
          </a:prstGeom>
          <a:solidFill>
            <a:schemeClr val="accent1"/>
          </a:solidFill>
          <a:ln/>
        </p:spPr>
      </p:sp>
      <p:sp>
        <p:nvSpPr>
          <p:cNvPr id="25" name="Text 23"/>
          <p:cNvSpPr txBox="1"/>
          <p:nvPr/>
        </p:nvSpPr>
        <p:spPr>
          <a:xfrm>
            <a:off x="8229600" y="5120640"/>
            <a:ext cx="3108960" cy="640080"/>
          </a:xfrm>
          <a:prstGeom prst="rect">
            <a:avLst/>
          </a:prstGeom>
          <a:noFill/>
          <a:ln/>
        </p:spPr>
        <p:txBody>
          <a:bodyPr wrap="square" lIns="0" tIns="0" rIns="0" bIns="0" rtlCol="0" anchor="ctr"/>
          <a:lstStyle/>
          <a:p>
            <a:pPr indent="0" marL="0">
              <a:buNone/>
            </a:pPr>
            <a:r>
              <a:rPr lang="en-US" sz="1300" b="1" dirty="0">
                <a:solidFill>
                  <a:schemeClr val="tx1"/>
                </a:solidFill>
              </a:rPr>
              <a:t>Active members and clubs by region · growth per term</a:t>
            </a:r>
            <a:endParaRPr lang="en-US" sz="1300" dirty="0"/>
          </a:p>
        </p:txBody>
      </p:sp>
      <p:sp>
        <p:nvSpPr>
          <p:cNvPr id="26" name="Text 24"/>
          <p:cNvSpPr txBox="1"/>
          <p:nvPr/>
        </p:nvSpPr>
        <p:spPr>
          <a:xfrm>
            <a:off x="548640" y="6035040"/>
            <a:ext cx="10972800" cy="274320"/>
          </a:xfrm>
          <a:prstGeom prst="rect">
            <a:avLst/>
          </a:prstGeom>
          <a:noFill/>
          <a:ln/>
        </p:spPr>
        <p:txBody>
          <a:bodyPr wrap="square" lIns="0" tIns="0" rIns="0" bIns="0" rtlCol="0" anchor="t"/>
          <a:lstStyle/>
          <a:p>
            <a:pPr indent="0" marL="0">
              <a:buNone/>
            </a:pPr>
            <a:r>
              <a:rPr lang="en-US" sz="1100" i="1" dirty="0">
                <a:solidFill>
                  <a:schemeClr val="tx2"/>
                </a:solidFill>
              </a:rPr>
              <a:t>Year-one targets for each KPI to be set by management with the Taxpayer Services and Education team.</a:t>
            </a:r>
            <a:endParaRPr lang="en-US" sz="11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algn="l" indent="0" marL="0">
              <a:buNone/>
            </a:pPr>
            <a:r>
              <a:rPr lang="en-US" sz="3200" b="1" dirty="0">
                <a:solidFill>
                  <a:schemeClr val="tx1"/>
                </a:solidFill>
                <a:latin typeface="Arial" pitchFamily="34" charset="0"/>
                <a:ea typeface="Arial" pitchFamily="34" charset="-122"/>
                <a:cs typeface="Arial" pitchFamily="34" charset="-120"/>
              </a:rPr>
              <a:t>How Tax Club supports TRA's CP7</a:t>
            </a:r>
            <a:endParaRPr lang="en-US" sz="3200" dirty="0"/>
          </a:p>
        </p:txBody>
      </p:sp>
      <p:sp>
        <p:nvSpPr>
          <p:cNvPr id="3" name="Text 1"/>
          <p:cNvSpPr txBox="1"/>
          <p:nvPr/>
        </p:nvSpPr>
        <p:spPr>
          <a:xfrm>
            <a:off x="548640" y="1417320"/>
            <a:ext cx="3657600" cy="320040"/>
          </a:xfrm>
          <a:prstGeom prst="rect">
            <a:avLst/>
          </a:prstGeom>
          <a:noFill/>
          <a:ln/>
        </p:spPr>
        <p:txBody>
          <a:bodyPr wrap="square" lIns="0" tIns="0" rIns="0" bIns="0" rtlCol="0" anchor="t"/>
          <a:lstStyle/>
          <a:p>
            <a:pPr indent="0" marL="0">
              <a:buNone/>
            </a:pPr>
            <a:r>
              <a:rPr lang="en-US" sz="1300" b="1" dirty="0">
                <a:solidFill>
                  <a:schemeClr val="tx2"/>
                </a:solidFill>
              </a:rPr>
              <a:t>CP7 priority</a:t>
            </a:r>
            <a:endParaRPr lang="en-US" sz="1300" dirty="0"/>
          </a:p>
        </p:txBody>
      </p:sp>
      <p:sp>
        <p:nvSpPr>
          <p:cNvPr id="4" name="Text 2"/>
          <p:cNvSpPr txBox="1"/>
          <p:nvPr/>
        </p:nvSpPr>
        <p:spPr>
          <a:xfrm>
            <a:off x="4663440" y="1417320"/>
            <a:ext cx="6400800" cy="320040"/>
          </a:xfrm>
          <a:prstGeom prst="rect">
            <a:avLst/>
          </a:prstGeom>
          <a:noFill/>
          <a:ln/>
        </p:spPr>
        <p:txBody>
          <a:bodyPr wrap="square" lIns="0" tIns="0" rIns="0" bIns="0" rtlCol="0" anchor="t"/>
          <a:lstStyle/>
          <a:p>
            <a:pPr indent="0" marL="0">
              <a:buNone/>
            </a:pPr>
            <a:r>
              <a:rPr lang="en-US" sz="1300" b="1" dirty="0">
                <a:solidFill>
                  <a:schemeClr val="tx2"/>
                </a:solidFill>
              </a:rPr>
              <a:t>Tax Club contribution</a:t>
            </a:r>
            <a:endParaRPr lang="en-US" sz="1300" dirty="0"/>
          </a:p>
        </p:txBody>
      </p:sp>
      <p:sp>
        <p:nvSpPr>
          <p:cNvPr id="5" name="CP7 priority 1"/>
          <p:cNvSpPr/>
          <p:nvPr/>
        </p:nvSpPr>
        <p:spPr>
          <a:xfrm>
            <a:off x="548640" y="1810512"/>
            <a:ext cx="3840480" cy="585216"/>
          </a:xfrm>
          <a:prstGeom prst="roundRect">
            <a:avLst>
              <a:gd name="adj" fmla="val 15625"/>
            </a:avLst>
          </a:prstGeom>
          <a:solidFill>
            <a:schemeClr val="tx1"/>
          </a:solidFill>
          <a:ln/>
        </p:spPr>
      </p:sp>
      <p:sp>
        <p:nvSpPr>
          <p:cNvPr id="6" name="Text 4"/>
          <p:cNvSpPr txBox="1"/>
          <p:nvPr/>
        </p:nvSpPr>
        <p:spPr>
          <a:xfrm>
            <a:off x="731520" y="1810512"/>
            <a:ext cx="3566160" cy="585216"/>
          </a:xfrm>
          <a:prstGeom prst="rect">
            <a:avLst/>
          </a:prstGeom>
          <a:noFill/>
          <a:ln/>
        </p:spPr>
        <p:txBody>
          <a:bodyPr wrap="square" lIns="0" tIns="0" rIns="0" bIns="0" rtlCol="0" anchor="ctr"/>
          <a:lstStyle/>
          <a:p>
            <a:pPr indent="0" marL="0">
              <a:buNone/>
            </a:pPr>
            <a:r>
              <a:rPr lang="en-US" sz="1500" b="1" dirty="0">
                <a:solidFill>
                  <a:schemeClr val="accent1"/>
                </a:solidFill>
              </a:rPr>
              <a:t>Widen the taxpayer base</a:t>
            </a:r>
            <a:endParaRPr lang="en-US" sz="1500" dirty="0"/>
          </a:p>
        </p:txBody>
      </p:sp>
      <p:pic>
        <p:nvPicPr>
          <p:cNvPr id="7" name="Arrow 1" descr="supports">    </p:cNvPr>
          <p:cNvPicPr>
            <a:picLocks noChangeAspect="1"/>
          </p:cNvPicPr>
          <p:nvPr/>
        </p:nvPicPr>
        <p:blipFill>
          <a:blip r:embed="rId1"/>
          <a:stretch>
            <a:fillRect/>
          </a:stretch>
        </p:blipFill>
        <p:spPr>
          <a:xfrm>
            <a:off x="4526280" y="1993392"/>
            <a:ext cx="219456" cy="219456"/>
          </a:xfrm>
          <a:prstGeom prst="rect">
            <a:avLst/>
          </a:prstGeom>
        </p:spPr>
      </p:pic>
      <p:sp>
        <p:nvSpPr>
          <p:cNvPr id="8" name="Text 5"/>
          <p:cNvSpPr txBox="1"/>
          <p:nvPr/>
        </p:nvSpPr>
        <p:spPr>
          <a:xfrm>
            <a:off x="4937760" y="1810512"/>
            <a:ext cx="6675120" cy="585216"/>
          </a:xfrm>
          <a:prstGeom prst="rect">
            <a:avLst/>
          </a:prstGeom>
          <a:noFill/>
          <a:ln/>
        </p:spPr>
        <p:txBody>
          <a:bodyPr wrap="square" lIns="0" tIns="0" rIns="0" bIns="0" rtlCol="0" anchor="ctr"/>
          <a:lstStyle/>
          <a:p>
            <a:pPr indent="0" marL="0">
              <a:buNone/>
            </a:pPr>
            <a:r>
              <a:rPr lang="en-US" sz="1500" dirty="0">
                <a:solidFill>
                  <a:schemeClr val="tx1"/>
                </a:solidFill>
              </a:rPr>
              <a:t>TIN at registration for college and university members; future taxpayers known early</a:t>
            </a:r>
            <a:endParaRPr lang="en-US" sz="1500" dirty="0"/>
          </a:p>
        </p:txBody>
      </p:sp>
      <p:sp>
        <p:nvSpPr>
          <p:cNvPr id="9" name="CP7 priority 2"/>
          <p:cNvSpPr/>
          <p:nvPr/>
        </p:nvSpPr>
        <p:spPr>
          <a:xfrm>
            <a:off x="548640" y="2505456"/>
            <a:ext cx="3840480" cy="585216"/>
          </a:xfrm>
          <a:prstGeom prst="roundRect">
            <a:avLst>
              <a:gd name="adj" fmla="val 15625"/>
            </a:avLst>
          </a:prstGeom>
          <a:solidFill>
            <a:schemeClr val="tx1"/>
          </a:solidFill>
          <a:ln/>
        </p:spPr>
      </p:sp>
      <p:sp>
        <p:nvSpPr>
          <p:cNvPr id="10" name="Text 7"/>
          <p:cNvSpPr txBox="1"/>
          <p:nvPr/>
        </p:nvSpPr>
        <p:spPr>
          <a:xfrm>
            <a:off x="731520" y="2505456"/>
            <a:ext cx="3566160" cy="585216"/>
          </a:xfrm>
          <a:prstGeom prst="rect">
            <a:avLst/>
          </a:prstGeom>
          <a:noFill/>
          <a:ln/>
        </p:spPr>
        <p:txBody>
          <a:bodyPr wrap="square" lIns="0" tIns="0" rIns="0" bIns="0" rtlCol="0" anchor="ctr"/>
          <a:lstStyle/>
          <a:p>
            <a:pPr indent="0" marL="0">
              <a:buNone/>
            </a:pPr>
            <a:r>
              <a:rPr lang="en-US" sz="1500" b="1" dirty="0">
                <a:solidFill>
                  <a:schemeClr val="accent1"/>
                </a:solidFill>
              </a:rPr>
              <a:t>Deepen taxpayer engagement</a:t>
            </a:r>
            <a:endParaRPr lang="en-US" sz="1500" dirty="0"/>
          </a:p>
        </p:txBody>
      </p:sp>
      <p:pic>
        <p:nvPicPr>
          <p:cNvPr id="11" name="Arrow 2" descr="supports">    </p:cNvPr>
          <p:cNvPicPr>
            <a:picLocks noChangeAspect="1"/>
          </p:cNvPicPr>
          <p:nvPr/>
        </p:nvPicPr>
        <p:blipFill>
          <a:blip r:embed="rId2"/>
          <a:stretch>
            <a:fillRect/>
          </a:stretch>
        </p:blipFill>
        <p:spPr>
          <a:xfrm>
            <a:off x="4526280" y="2688336"/>
            <a:ext cx="219456" cy="219456"/>
          </a:xfrm>
          <a:prstGeom prst="rect">
            <a:avLst/>
          </a:prstGeom>
        </p:spPr>
      </p:pic>
      <p:sp>
        <p:nvSpPr>
          <p:cNvPr id="12" name="Text 8"/>
          <p:cNvSpPr txBox="1"/>
          <p:nvPr/>
        </p:nvSpPr>
        <p:spPr>
          <a:xfrm>
            <a:off x="4937760" y="2505456"/>
            <a:ext cx="6675120" cy="585216"/>
          </a:xfrm>
          <a:prstGeom prst="rect">
            <a:avLst/>
          </a:prstGeom>
          <a:noFill/>
          <a:ln/>
        </p:spPr>
        <p:txBody>
          <a:bodyPr wrap="square" lIns="0" tIns="0" rIns="0" bIns="0" rtlCol="0" anchor="ctr"/>
          <a:lstStyle/>
          <a:p>
            <a:pPr indent="0" marL="0">
              <a:buNone/>
            </a:pPr>
            <a:r>
              <a:rPr lang="en-US" sz="1500" dirty="0">
                <a:solidFill>
                  <a:schemeClr val="tx1"/>
                </a:solidFill>
              </a:rPr>
              <a:t>Year-round two-way contact with students, patrons and families in every region</a:t>
            </a:r>
            <a:endParaRPr lang="en-US" sz="1500" dirty="0"/>
          </a:p>
        </p:txBody>
      </p:sp>
      <p:sp>
        <p:nvSpPr>
          <p:cNvPr id="13" name="CP7 priority 3"/>
          <p:cNvSpPr/>
          <p:nvPr/>
        </p:nvSpPr>
        <p:spPr>
          <a:xfrm>
            <a:off x="548640" y="3200400"/>
            <a:ext cx="3840480" cy="585216"/>
          </a:xfrm>
          <a:prstGeom prst="roundRect">
            <a:avLst>
              <a:gd name="adj" fmla="val 15625"/>
            </a:avLst>
          </a:prstGeom>
          <a:solidFill>
            <a:schemeClr val="tx1"/>
          </a:solidFill>
          <a:ln/>
        </p:spPr>
      </p:sp>
      <p:sp>
        <p:nvSpPr>
          <p:cNvPr id="14" name="Text 10"/>
          <p:cNvSpPr txBox="1"/>
          <p:nvPr/>
        </p:nvSpPr>
        <p:spPr>
          <a:xfrm>
            <a:off x="731520" y="3200400"/>
            <a:ext cx="3566160" cy="585216"/>
          </a:xfrm>
          <a:prstGeom prst="rect">
            <a:avLst/>
          </a:prstGeom>
          <a:noFill/>
          <a:ln/>
        </p:spPr>
        <p:txBody>
          <a:bodyPr wrap="square" lIns="0" tIns="0" rIns="0" bIns="0" rtlCol="0" anchor="ctr"/>
          <a:lstStyle/>
          <a:p>
            <a:pPr indent="0" marL="0">
              <a:buNone/>
            </a:pPr>
            <a:r>
              <a:rPr lang="en-US" sz="1500" b="1" dirty="0">
                <a:solidFill>
                  <a:schemeClr val="accent1"/>
                </a:solidFill>
              </a:rPr>
              <a:t>Strengthen digital tax systems</a:t>
            </a:r>
            <a:endParaRPr lang="en-US" sz="1500" dirty="0"/>
          </a:p>
        </p:txBody>
      </p:sp>
      <p:pic>
        <p:nvPicPr>
          <p:cNvPr id="15" name="Arrow 3" descr="supports">    </p:cNvPr>
          <p:cNvPicPr>
            <a:picLocks noChangeAspect="1"/>
          </p:cNvPicPr>
          <p:nvPr/>
        </p:nvPicPr>
        <p:blipFill>
          <a:blip r:embed="rId3"/>
          <a:stretch>
            <a:fillRect/>
          </a:stretch>
        </p:blipFill>
        <p:spPr>
          <a:xfrm>
            <a:off x="4526280" y="3383280"/>
            <a:ext cx="219456" cy="219456"/>
          </a:xfrm>
          <a:prstGeom prst="rect">
            <a:avLst/>
          </a:prstGeom>
        </p:spPr>
      </p:pic>
      <p:sp>
        <p:nvSpPr>
          <p:cNvPr id="16" name="Text 11"/>
          <p:cNvSpPr txBox="1"/>
          <p:nvPr/>
        </p:nvSpPr>
        <p:spPr>
          <a:xfrm>
            <a:off x="4937760" y="3200400"/>
            <a:ext cx="6675120" cy="585216"/>
          </a:xfrm>
          <a:prstGeom prst="rect">
            <a:avLst/>
          </a:prstGeom>
          <a:noFill/>
          <a:ln/>
        </p:spPr>
        <p:txBody>
          <a:bodyPr wrap="square" lIns="0" tIns="0" rIns="0" bIns="0" rtlCol="0" anchor="ctr"/>
          <a:lstStyle/>
          <a:p>
            <a:pPr indent="0" marL="0">
              <a:buNone/>
            </a:pPr>
            <a:r>
              <a:rPr lang="en-US" sz="1500" dirty="0">
                <a:solidFill>
                  <a:schemeClr val="tx1"/>
                </a:solidFill>
              </a:rPr>
              <a:t>A digital TRA channel for education, built for TRA hosting and security standards</a:t>
            </a:r>
            <a:endParaRPr lang="en-US" sz="1500" dirty="0"/>
          </a:p>
        </p:txBody>
      </p:sp>
      <p:sp>
        <p:nvSpPr>
          <p:cNvPr id="17" name="CP7 priority 4"/>
          <p:cNvSpPr/>
          <p:nvPr/>
        </p:nvSpPr>
        <p:spPr>
          <a:xfrm>
            <a:off x="548640" y="3895344"/>
            <a:ext cx="3840480" cy="585216"/>
          </a:xfrm>
          <a:prstGeom prst="roundRect">
            <a:avLst>
              <a:gd name="adj" fmla="val 15625"/>
            </a:avLst>
          </a:prstGeom>
          <a:solidFill>
            <a:schemeClr val="tx1"/>
          </a:solidFill>
          <a:ln/>
        </p:spPr>
      </p:sp>
      <p:sp>
        <p:nvSpPr>
          <p:cNvPr id="18" name="Text 13"/>
          <p:cNvSpPr txBox="1"/>
          <p:nvPr/>
        </p:nvSpPr>
        <p:spPr>
          <a:xfrm>
            <a:off x="731520" y="3895344"/>
            <a:ext cx="3566160" cy="585216"/>
          </a:xfrm>
          <a:prstGeom prst="rect">
            <a:avLst/>
          </a:prstGeom>
          <a:noFill/>
          <a:ln/>
        </p:spPr>
        <p:txBody>
          <a:bodyPr wrap="square" lIns="0" tIns="0" rIns="0" bIns="0" rtlCol="0" anchor="ctr"/>
          <a:lstStyle/>
          <a:p>
            <a:pPr indent="0" marL="0">
              <a:buNone/>
            </a:pPr>
            <a:r>
              <a:rPr lang="en-US" sz="1500" b="1" dirty="0">
                <a:solidFill>
                  <a:schemeClr val="accent1"/>
                </a:solidFill>
              </a:rPr>
              <a:t>E-invoicing and EFD receipts</a:t>
            </a:r>
            <a:endParaRPr lang="en-US" sz="1500" dirty="0"/>
          </a:p>
        </p:txBody>
      </p:sp>
      <p:pic>
        <p:nvPicPr>
          <p:cNvPr id="19" name="Arrow 4" descr="supports">    </p:cNvPr>
          <p:cNvPicPr>
            <a:picLocks noChangeAspect="1"/>
          </p:cNvPicPr>
          <p:nvPr/>
        </p:nvPicPr>
        <p:blipFill>
          <a:blip r:embed="rId4"/>
          <a:stretch>
            <a:fillRect/>
          </a:stretch>
        </p:blipFill>
        <p:spPr>
          <a:xfrm>
            <a:off x="4526280" y="4078224"/>
            <a:ext cx="219456" cy="219456"/>
          </a:xfrm>
          <a:prstGeom prst="rect">
            <a:avLst/>
          </a:prstGeom>
        </p:spPr>
      </p:pic>
      <p:sp>
        <p:nvSpPr>
          <p:cNvPr id="20" name="Text 14"/>
          <p:cNvSpPr txBox="1"/>
          <p:nvPr/>
        </p:nvSpPr>
        <p:spPr>
          <a:xfrm>
            <a:off x="4937760" y="3895344"/>
            <a:ext cx="6675120" cy="585216"/>
          </a:xfrm>
          <a:prstGeom prst="rect">
            <a:avLst/>
          </a:prstGeom>
          <a:noFill/>
          <a:ln/>
        </p:spPr>
        <p:txBody>
          <a:bodyPr wrap="square" lIns="0" tIns="0" rIns="0" bIns="0" rtlCol="0" anchor="ctr"/>
          <a:lstStyle/>
          <a:p>
            <a:pPr indent="0" marL="0">
              <a:buNone/>
            </a:pPr>
            <a:r>
              <a:rPr lang="en-US" sz="1500" dirty="0">
                <a:solidFill>
                  <a:schemeClr val="tx1"/>
                </a:solidFill>
              </a:rPr>
              <a:t>Receipt lessons, quizzes and campaigns create a generation that demands receipts</a:t>
            </a:r>
            <a:endParaRPr lang="en-US" sz="1500" dirty="0"/>
          </a:p>
        </p:txBody>
      </p:sp>
      <p:sp>
        <p:nvSpPr>
          <p:cNvPr id="21" name="CP7 priority 5"/>
          <p:cNvSpPr/>
          <p:nvPr/>
        </p:nvSpPr>
        <p:spPr>
          <a:xfrm>
            <a:off x="548640" y="4590288"/>
            <a:ext cx="3840480" cy="585216"/>
          </a:xfrm>
          <a:prstGeom prst="roundRect">
            <a:avLst>
              <a:gd name="adj" fmla="val 15625"/>
            </a:avLst>
          </a:prstGeom>
          <a:solidFill>
            <a:schemeClr val="tx1"/>
          </a:solidFill>
          <a:ln/>
        </p:spPr>
      </p:sp>
      <p:sp>
        <p:nvSpPr>
          <p:cNvPr id="22" name="Text 16"/>
          <p:cNvSpPr txBox="1"/>
          <p:nvPr/>
        </p:nvSpPr>
        <p:spPr>
          <a:xfrm>
            <a:off x="731520" y="4590288"/>
            <a:ext cx="3566160" cy="585216"/>
          </a:xfrm>
          <a:prstGeom prst="rect">
            <a:avLst/>
          </a:prstGeom>
          <a:noFill/>
          <a:ln/>
        </p:spPr>
        <p:txBody>
          <a:bodyPr wrap="square" lIns="0" tIns="0" rIns="0" bIns="0" rtlCol="0" anchor="ctr"/>
          <a:lstStyle/>
          <a:p>
            <a:pPr indent="0" marL="0">
              <a:buNone/>
            </a:pPr>
            <a:r>
              <a:rPr lang="en-US" sz="1500" b="1" dirty="0">
                <a:solidFill>
                  <a:schemeClr val="accent1"/>
                </a:solidFill>
              </a:rPr>
              <a:t>Staff capacity</a:t>
            </a:r>
            <a:endParaRPr lang="en-US" sz="1500" dirty="0"/>
          </a:p>
        </p:txBody>
      </p:sp>
      <p:pic>
        <p:nvPicPr>
          <p:cNvPr id="23" name="Arrow 5" descr="supports">    </p:cNvPr>
          <p:cNvPicPr>
            <a:picLocks noChangeAspect="1"/>
          </p:cNvPicPr>
          <p:nvPr/>
        </p:nvPicPr>
        <p:blipFill>
          <a:blip r:embed="rId5"/>
          <a:stretch>
            <a:fillRect/>
          </a:stretch>
        </p:blipFill>
        <p:spPr>
          <a:xfrm>
            <a:off x="4526280" y="4773168"/>
            <a:ext cx="219456" cy="219456"/>
          </a:xfrm>
          <a:prstGeom prst="rect">
            <a:avLst/>
          </a:prstGeom>
        </p:spPr>
      </p:pic>
      <p:sp>
        <p:nvSpPr>
          <p:cNvPr id="24" name="Text 17"/>
          <p:cNvSpPr txBox="1"/>
          <p:nvPr/>
        </p:nvSpPr>
        <p:spPr>
          <a:xfrm>
            <a:off x="4937760" y="4590288"/>
            <a:ext cx="6675120" cy="585216"/>
          </a:xfrm>
          <a:prstGeom prst="rect">
            <a:avLst/>
          </a:prstGeom>
          <a:noFill/>
          <a:ln/>
        </p:spPr>
        <p:txBody>
          <a:bodyPr wrap="square" lIns="0" tIns="0" rIns="0" bIns="0" rtlCol="0" anchor="ctr"/>
          <a:lstStyle/>
          <a:p>
            <a:pPr indent="0" marL="0">
              <a:buNone/>
            </a:pPr>
            <a:r>
              <a:rPr lang="en-US" sz="1500" dirty="0">
                <a:solidFill>
                  <a:schemeClr val="tx1"/>
                </a:solidFill>
              </a:rPr>
              <a:t>Regional officers get tools, content and data instead of paperwork</a:t>
            </a:r>
            <a:endParaRPr lang="en-US" sz="1500" dirty="0"/>
          </a:p>
        </p:txBody>
      </p:sp>
      <p:sp>
        <p:nvSpPr>
          <p:cNvPr id="25" name="CP7 priority 6"/>
          <p:cNvSpPr/>
          <p:nvPr/>
        </p:nvSpPr>
        <p:spPr>
          <a:xfrm>
            <a:off x="548640" y="5285232"/>
            <a:ext cx="3840480" cy="585216"/>
          </a:xfrm>
          <a:prstGeom prst="roundRect">
            <a:avLst>
              <a:gd name="adj" fmla="val 15625"/>
            </a:avLst>
          </a:prstGeom>
          <a:solidFill>
            <a:schemeClr val="tx1"/>
          </a:solidFill>
          <a:ln/>
        </p:spPr>
      </p:sp>
      <p:sp>
        <p:nvSpPr>
          <p:cNvPr id="26" name="Text 19"/>
          <p:cNvSpPr txBox="1"/>
          <p:nvPr/>
        </p:nvSpPr>
        <p:spPr>
          <a:xfrm>
            <a:off x="731520" y="5285232"/>
            <a:ext cx="3566160" cy="585216"/>
          </a:xfrm>
          <a:prstGeom prst="rect">
            <a:avLst/>
          </a:prstGeom>
          <a:noFill/>
          <a:ln/>
        </p:spPr>
        <p:txBody>
          <a:bodyPr wrap="square" lIns="0" tIns="0" rIns="0" bIns="0" rtlCol="0" anchor="ctr"/>
          <a:lstStyle/>
          <a:p>
            <a:pPr indent="0" marL="0">
              <a:buNone/>
            </a:pPr>
            <a:r>
              <a:rPr lang="en-US" sz="1500" b="1" dirty="0">
                <a:solidFill>
                  <a:schemeClr val="accent1"/>
                </a:solidFill>
              </a:rPr>
              <a:t>Support Vision 2050</a:t>
            </a:r>
            <a:endParaRPr lang="en-US" sz="1500" dirty="0"/>
          </a:p>
        </p:txBody>
      </p:sp>
      <p:pic>
        <p:nvPicPr>
          <p:cNvPr id="27" name="Arrow 6" descr="supports">    </p:cNvPr>
          <p:cNvPicPr>
            <a:picLocks noChangeAspect="1"/>
          </p:cNvPicPr>
          <p:nvPr/>
        </p:nvPicPr>
        <p:blipFill>
          <a:blip r:embed="rId6"/>
          <a:stretch>
            <a:fillRect/>
          </a:stretch>
        </p:blipFill>
        <p:spPr>
          <a:xfrm>
            <a:off x="4526280" y="5468112"/>
            <a:ext cx="219456" cy="219456"/>
          </a:xfrm>
          <a:prstGeom prst="rect">
            <a:avLst/>
          </a:prstGeom>
        </p:spPr>
      </p:pic>
      <p:sp>
        <p:nvSpPr>
          <p:cNvPr id="28" name="Text 20"/>
          <p:cNvSpPr txBox="1"/>
          <p:nvPr/>
        </p:nvSpPr>
        <p:spPr>
          <a:xfrm>
            <a:off x="4937760" y="5285232"/>
            <a:ext cx="6675120" cy="585216"/>
          </a:xfrm>
          <a:prstGeom prst="rect">
            <a:avLst/>
          </a:prstGeom>
          <a:noFill/>
          <a:ln/>
        </p:spPr>
        <p:txBody>
          <a:bodyPr wrap="square" lIns="0" tIns="0" rIns="0" bIns="0" rtlCol="0" anchor="ctr"/>
          <a:lstStyle/>
          <a:p>
            <a:pPr indent="0" marL="0">
              <a:buNone/>
            </a:pPr>
            <a:r>
              <a:rPr lang="en-US" sz="1500" dirty="0">
                <a:solidFill>
                  <a:schemeClr val="tx1"/>
                </a:solidFill>
              </a:rPr>
              <a:t>Builds the tax-literate, compliant citizens the national vision depends on</a:t>
            </a:r>
            <a:endParaRPr lang="en-US" sz="1500" dirty="0"/>
          </a:p>
        </p:txBody>
      </p:sp>
      <p:sp>
        <p:nvSpPr>
          <p:cNvPr id="29" name="Text 21"/>
          <p:cNvSpPr txBox="1"/>
          <p:nvPr/>
        </p:nvSpPr>
        <p:spPr>
          <a:xfrm>
            <a:off x="548640" y="6035040"/>
            <a:ext cx="10972800" cy="274320"/>
          </a:xfrm>
          <a:prstGeom prst="rect">
            <a:avLst/>
          </a:prstGeom>
          <a:noFill/>
          <a:ln/>
        </p:spPr>
        <p:txBody>
          <a:bodyPr wrap="square" lIns="0" tIns="0" rIns="0" bIns="0" rtlCol="0" anchor="t"/>
          <a:lstStyle/>
          <a:p>
            <a:pPr indent="0" marL="0">
              <a:buNone/>
            </a:pPr>
            <a:r>
              <a:rPr lang="en-US" sz="1100" i="1" dirty="0">
                <a:solidFill>
                  <a:schemeClr val="tx2"/>
                </a:solidFill>
              </a:rPr>
              <a:t>CP7 priorities as publicly reported at the plan's launch. Wording to be confirmed against the official CP7 document before presenting.</a:t>
            </a:r>
            <a:endParaRPr lang="en-US" sz="11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algn="l" indent="0" marL="0">
              <a:buNone/>
            </a:pPr>
            <a:r>
              <a:rPr lang="en-US" sz="3200" b="1" dirty="0">
                <a:solidFill>
                  <a:schemeClr val="tx1"/>
                </a:solidFill>
                <a:latin typeface="Arial" pitchFamily="34" charset="0"/>
                <a:ea typeface="Arial" pitchFamily="34" charset="-122"/>
                <a:cs typeface="Arial" pitchFamily="34" charset="-120"/>
              </a:rPr>
              <a:t>Built safely for children and to government standards</a:t>
            </a:r>
            <a:endParaRPr lang="en-US" sz="3200" dirty="0"/>
          </a:p>
        </p:txBody>
      </p:sp>
      <p:sp>
        <p:nvSpPr>
          <p:cNvPr id="3" name="Safeguarding minors card"/>
          <p:cNvSpPr/>
          <p:nvPr/>
        </p:nvSpPr>
        <p:spPr>
          <a:xfrm>
            <a:off x="548640" y="1463040"/>
            <a:ext cx="5440680" cy="2057400"/>
          </a:xfrm>
          <a:prstGeom prst="roundRect">
            <a:avLst>
              <a:gd name="adj" fmla="val 5333"/>
            </a:avLst>
          </a:prstGeom>
          <a:solidFill>
            <a:schemeClr val="bg2"/>
          </a:solidFill>
          <a:ln/>
        </p:spPr>
      </p:sp>
      <p:sp>
        <p:nvSpPr>
          <p:cNvPr id="4" name="Safeguarding minors circle"/>
          <p:cNvSpPr/>
          <p:nvPr/>
        </p:nvSpPr>
        <p:spPr>
          <a:xfrm>
            <a:off x="822960" y="1737360"/>
            <a:ext cx="685800" cy="685800"/>
          </a:xfrm>
          <a:prstGeom prst="ellipse">
            <a:avLst/>
          </a:prstGeom>
          <a:solidFill>
            <a:schemeClr val="accent1"/>
          </a:solidFill>
          <a:ln/>
        </p:spPr>
      </p:sp>
      <p:pic>
        <p:nvPicPr>
          <p:cNvPr id="5" name="Safeguarding minors" descr="Safeguarding minors">    </p:cNvPr>
          <p:cNvPicPr>
            <a:picLocks noChangeAspect="1"/>
          </p:cNvPicPr>
          <p:nvPr/>
        </p:nvPicPr>
        <p:blipFill>
          <a:blip r:embed="rId1"/>
          <a:stretch>
            <a:fillRect/>
          </a:stretch>
        </p:blipFill>
        <p:spPr>
          <a:xfrm>
            <a:off x="1008126" y="1922526"/>
            <a:ext cx="315468" cy="315468"/>
          </a:xfrm>
          <a:prstGeom prst="rect">
            <a:avLst/>
          </a:prstGeom>
        </p:spPr>
      </p:pic>
      <p:sp>
        <p:nvSpPr>
          <p:cNvPr id="6" name="Text 3"/>
          <p:cNvSpPr txBox="1"/>
          <p:nvPr/>
        </p:nvSpPr>
        <p:spPr>
          <a:xfrm>
            <a:off x="1737360" y="1755648"/>
            <a:ext cx="4023360" cy="411480"/>
          </a:xfrm>
          <a:prstGeom prst="rect">
            <a:avLst/>
          </a:prstGeom>
          <a:noFill/>
          <a:ln/>
        </p:spPr>
        <p:txBody>
          <a:bodyPr wrap="square" lIns="0" tIns="0" rIns="0" bIns="0" rtlCol="0" anchor="t"/>
          <a:lstStyle/>
          <a:p>
            <a:pPr indent="0" marL="0">
              <a:buNone/>
            </a:pPr>
            <a:r>
              <a:rPr lang="en-US" sz="1900" b="1" dirty="0">
                <a:solidFill>
                  <a:schemeClr val="tx1"/>
                </a:solidFill>
                <a:latin typeface="Arial" pitchFamily="34" charset="0"/>
                <a:ea typeface="Arial" pitchFamily="34" charset="-122"/>
                <a:cs typeface="Arial" pitchFamily="34" charset="-120"/>
              </a:rPr>
              <a:t>Safeguarding minors</a:t>
            </a:r>
            <a:endParaRPr lang="en-US" sz="1900" dirty="0"/>
          </a:p>
        </p:txBody>
      </p:sp>
      <p:sp>
        <p:nvSpPr>
          <p:cNvPr id="7" name="Text 4"/>
          <p:cNvSpPr txBox="1"/>
          <p:nvPr/>
        </p:nvSpPr>
        <p:spPr>
          <a:xfrm>
            <a:off x="1737360" y="2240280"/>
            <a:ext cx="4023360" cy="1188720"/>
          </a:xfrm>
          <a:prstGeom prst="rect">
            <a:avLst/>
          </a:prstGeom>
          <a:noFill/>
          <a:ln/>
        </p:spPr>
        <p:txBody>
          <a:bodyPr wrap="square" lIns="0" tIns="0" rIns="0" bIns="0" rtlCol="0" anchor="t"/>
          <a:lstStyle/>
          <a:p>
            <a:pPr indent="0" marL="0">
              <a:buNone/>
            </a:pPr>
            <a:r>
              <a:rPr lang="en-US" sz="1400" dirty="0">
                <a:solidFill>
                  <a:schemeClr val="tx2"/>
                </a:solidFill>
              </a:rPr>
              <a:t>Guardian consent for under-18s, confirmed by the patron. Minors are shown by first name only, and cannot be contacted by adults they do not know.</a:t>
            </a:r>
            <a:endParaRPr lang="en-US" sz="1400" dirty="0"/>
          </a:p>
        </p:txBody>
      </p:sp>
      <p:sp>
        <p:nvSpPr>
          <p:cNvPr id="8" name="Moderation card"/>
          <p:cNvSpPr/>
          <p:nvPr/>
        </p:nvSpPr>
        <p:spPr>
          <a:xfrm>
            <a:off x="6172200" y="1463040"/>
            <a:ext cx="5440680" cy="2057400"/>
          </a:xfrm>
          <a:prstGeom prst="roundRect">
            <a:avLst>
              <a:gd name="adj" fmla="val 5333"/>
            </a:avLst>
          </a:prstGeom>
          <a:solidFill>
            <a:schemeClr val="bg2"/>
          </a:solidFill>
          <a:ln/>
        </p:spPr>
      </p:sp>
      <p:sp>
        <p:nvSpPr>
          <p:cNvPr id="9" name="Moderation circle"/>
          <p:cNvSpPr/>
          <p:nvPr/>
        </p:nvSpPr>
        <p:spPr>
          <a:xfrm>
            <a:off x="6446520" y="1737360"/>
            <a:ext cx="685800" cy="685800"/>
          </a:xfrm>
          <a:prstGeom prst="ellipse">
            <a:avLst/>
          </a:prstGeom>
          <a:solidFill>
            <a:schemeClr val="accent1"/>
          </a:solidFill>
          <a:ln/>
        </p:spPr>
      </p:sp>
      <p:pic>
        <p:nvPicPr>
          <p:cNvPr id="10" name="Moderation" descr="Moderation">    </p:cNvPr>
          <p:cNvPicPr>
            <a:picLocks noChangeAspect="1"/>
          </p:cNvPicPr>
          <p:nvPr/>
        </p:nvPicPr>
        <p:blipFill>
          <a:blip r:embed="rId2"/>
          <a:stretch>
            <a:fillRect/>
          </a:stretch>
        </p:blipFill>
        <p:spPr>
          <a:xfrm>
            <a:off x="6631686" y="1922526"/>
            <a:ext cx="315468" cy="315468"/>
          </a:xfrm>
          <a:prstGeom prst="rect">
            <a:avLst/>
          </a:prstGeom>
        </p:spPr>
      </p:pic>
      <p:sp>
        <p:nvSpPr>
          <p:cNvPr id="11" name="Text 7"/>
          <p:cNvSpPr txBox="1"/>
          <p:nvPr/>
        </p:nvSpPr>
        <p:spPr>
          <a:xfrm>
            <a:off x="7360920" y="1755648"/>
            <a:ext cx="4023360" cy="411480"/>
          </a:xfrm>
          <a:prstGeom prst="rect">
            <a:avLst/>
          </a:prstGeom>
          <a:noFill/>
          <a:ln/>
        </p:spPr>
        <p:txBody>
          <a:bodyPr wrap="square" lIns="0" tIns="0" rIns="0" bIns="0" rtlCol="0" anchor="t"/>
          <a:lstStyle/>
          <a:p>
            <a:pPr indent="0" marL="0">
              <a:buNone/>
            </a:pPr>
            <a:r>
              <a:rPr lang="en-US" sz="1900" b="1" dirty="0">
                <a:solidFill>
                  <a:schemeClr val="tx1"/>
                </a:solidFill>
                <a:latin typeface="Arial" pitchFamily="34" charset="0"/>
                <a:ea typeface="Arial" pitchFamily="34" charset="-122"/>
                <a:cs typeface="Arial" pitchFamily="34" charset="-120"/>
              </a:rPr>
              <a:t>Moderation</a:t>
            </a:r>
            <a:endParaRPr lang="en-US" sz="1900" dirty="0"/>
          </a:p>
        </p:txBody>
      </p:sp>
      <p:sp>
        <p:nvSpPr>
          <p:cNvPr id="12" name="Text 8"/>
          <p:cNvSpPr txBox="1"/>
          <p:nvPr/>
        </p:nvSpPr>
        <p:spPr>
          <a:xfrm>
            <a:off x="7360920" y="2240280"/>
            <a:ext cx="4023360" cy="1188720"/>
          </a:xfrm>
          <a:prstGeom prst="rect">
            <a:avLst/>
          </a:prstGeom>
          <a:noFill/>
          <a:ln/>
        </p:spPr>
        <p:txBody>
          <a:bodyPr wrap="square" lIns="0" tIns="0" rIns="0" bIns="0" rtlCol="0" anchor="t"/>
          <a:lstStyle/>
          <a:p>
            <a:pPr indent="0" marL="0">
              <a:buNone/>
            </a:pPr>
            <a:r>
              <a:rPr lang="en-US" sz="1400" dirty="0">
                <a:solidFill>
                  <a:schemeClr val="tx2"/>
                </a:solidFill>
              </a:rPr>
              <a:t>Reports, automatic hiding, blocked words and a safeguarding team for urgent cases. Mentors of minors need a background check.</a:t>
            </a:r>
            <a:endParaRPr lang="en-US" sz="1400" dirty="0"/>
          </a:p>
        </p:txBody>
      </p:sp>
      <p:sp>
        <p:nvSpPr>
          <p:cNvPr id="13" name="Security card"/>
          <p:cNvSpPr/>
          <p:nvPr/>
        </p:nvSpPr>
        <p:spPr>
          <a:xfrm>
            <a:off x="548640" y="3749040"/>
            <a:ext cx="5440680" cy="2057400"/>
          </a:xfrm>
          <a:prstGeom prst="roundRect">
            <a:avLst>
              <a:gd name="adj" fmla="val 5333"/>
            </a:avLst>
          </a:prstGeom>
          <a:solidFill>
            <a:schemeClr val="bg2"/>
          </a:solidFill>
          <a:ln/>
        </p:spPr>
      </p:sp>
      <p:sp>
        <p:nvSpPr>
          <p:cNvPr id="14" name="Security circle"/>
          <p:cNvSpPr/>
          <p:nvPr/>
        </p:nvSpPr>
        <p:spPr>
          <a:xfrm>
            <a:off x="822960" y="4023360"/>
            <a:ext cx="685800" cy="685800"/>
          </a:xfrm>
          <a:prstGeom prst="ellipse">
            <a:avLst/>
          </a:prstGeom>
          <a:solidFill>
            <a:schemeClr val="accent1"/>
          </a:solidFill>
          <a:ln/>
        </p:spPr>
      </p:sp>
      <p:pic>
        <p:nvPicPr>
          <p:cNvPr id="15" name="Security" descr="Security">    </p:cNvPr>
          <p:cNvPicPr>
            <a:picLocks noChangeAspect="1"/>
          </p:cNvPicPr>
          <p:nvPr/>
        </p:nvPicPr>
        <p:blipFill>
          <a:blip r:embed="rId3"/>
          <a:stretch>
            <a:fillRect/>
          </a:stretch>
        </p:blipFill>
        <p:spPr>
          <a:xfrm>
            <a:off x="1008126" y="4208526"/>
            <a:ext cx="315468" cy="315468"/>
          </a:xfrm>
          <a:prstGeom prst="rect">
            <a:avLst/>
          </a:prstGeom>
        </p:spPr>
      </p:pic>
      <p:sp>
        <p:nvSpPr>
          <p:cNvPr id="16" name="Text 11"/>
          <p:cNvSpPr txBox="1"/>
          <p:nvPr/>
        </p:nvSpPr>
        <p:spPr>
          <a:xfrm>
            <a:off x="1737360" y="4041648"/>
            <a:ext cx="4023360" cy="411480"/>
          </a:xfrm>
          <a:prstGeom prst="rect">
            <a:avLst/>
          </a:prstGeom>
          <a:noFill/>
          <a:ln/>
        </p:spPr>
        <p:txBody>
          <a:bodyPr wrap="square" lIns="0" tIns="0" rIns="0" bIns="0" rtlCol="0" anchor="t"/>
          <a:lstStyle/>
          <a:p>
            <a:pPr indent="0" marL="0">
              <a:buNone/>
            </a:pPr>
            <a:r>
              <a:rPr lang="en-US" sz="1900" b="1" dirty="0">
                <a:solidFill>
                  <a:schemeClr val="tx1"/>
                </a:solidFill>
                <a:latin typeface="Arial" pitchFamily="34" charset="0"/>
                <a:ea typeface="Arial" pitchFamily="34" charset="-122"/>
                <a:cs typeface="Arial" pitchFamily="34" charset="-120"/>
              </a:rPr>
              <a:t>Security</a:t>
            </a:r>
            <a:endParaRPr lang="en-US" sz="1900" dirty="0"/>
          </a:p>
        </p:txBody>
      </p:sp>
      <p:sp>
        <p:nvSpPr>
          <p:cNvPr id="17" name="Text 12"/>
          <p:cNvSpPr txBox="1"/>
          <p:nvPr/>
        </p:nvSpPr>
        <p:spPr>
          <a:xfrm>
            <a:off x="1737360" y="4526280"/>
            <a:ext cx="4023360" cy="1188720"/>
          </a:xfrm>
          <a:prstGeom prst="rect">
            <a:avLst/>
          </a:prstGeom>
          <a:noFill/>
          <a:ln/>
        </p:spPr>
        <p:txBody>
          <a:bodyPr wrap="square" lIns="0" tIns="0" rIns="0" bIns="0" rtlCol="0" anchor="t"/>
          <a:lstStyle/>
          <a:p>
            <a:pPr indent="0" marL="0">
              <a:buNone/>
            </a:pPr>
            <a:r>
              <a:rPr lang="en-US" sz="1400" dirty="0">
                <a:solidFill>
                  <a:schemeClr val="tx2"/>
                </a:solidFill>
              </a:rPr>
              <a:t>Two-step sign-in for staff, role-based access by region, and a full audit log. Ready for TRA ICT security review.</a:t>
            </a:r>
            <a:endParaRPr lang="en-US" sz="1400" dirty="0"/>
          </a:p>
        </p:txBody>
      </p:sp>
      <p:sp>
        <p:nvSpPr>
          <p:cNvPr id="18" name="Privacy and inclusion card"/>
          <p:cNvSpPr/>
          <p:nvPr/>
        </p:nvSpPr>
        <p:spPr>
          <a:xfrm>
            <a:off x="6172200" y="3749040"/>
            <a:ext cx="5440680" cy="2057400"/>
          </a:xfrm>
          <a:prstGeom prst="roundRect">
            <a:avLst>
              <a:gd name="adj" fmla="val 5333"/>
            </a:avLst>
          </a:prstGeom>
          <a:solidFill>
            <a:schemeClr val="bg2"/>
          </a:solidFill>
          <a:ln/>
        </p:spPr>
      </p:sp>
      <p:sp>
        <p:nvSpPr>
          <p:cNvPr id="19" name="Privacy and inclusion circle"/>
          <p:cNvSpPr/>
          <p:nvPr/>
        </p:nvSpPr>
        <p:spPr>
          <a:xfrm>
            <a:off x="6446520" y="4023360"/>
            <a:ext cx="685800" cy="685800"/>
          </a:xfrm>
          <a:prstGeom prst="ellipse">
            <a:avLst/>
          </a:prstGeom>
          <a:solidFill>
            <a:schemeClr val="accent1"/>
          </a:solidFill>
          <a:ln/>
        </p:spPr>
      </p:sp>
      <p:pic>
        <p:nvPicPr>
          <p:cNvPr id="20" name="Privacy and inclusion" descr="Privacy and inclusion">    </p:cNvPr>
          <p:cNvPicPr>
            <a:picLocks noChangeAspect="1"/>
          </p:cNvPicPr>
          <p:nvPr/>
        </p:nvPicPr>
        <p:blipFill>
          <a:blip r:embed="rId4"/>
          <a:stretch>
            <a:fillRect/>
          </a:stretch>
        </p:blipFill>
        <p:spPr>
          <a:xfrm>
            <a:off x="6631686" y="4208526"/>
            <a:ext cx="315468" cy="315468"/>
          </a:xfrm>
          <a:prstGeom prst="rect">
            <a:avLst/>
          </a:prstGeom>
        </p:spPr>
      </p:pic>
      <p:sp>
        <p:nvSpPr>
          <p:cNvPr id="21" name="Text 15"/>
          <p:cNvSpPr txBox="1"/>
          <p:nvPr/>
        </p:nvSpPr>
        <p:spPr>
          <a:xfrm>
            <a:off x="7360920" y="4041648"/>
            <a:ext cx="4023360" cy="411480"/>
          </a:xfrm>
          <a:prstGeom prst="rect">
            <a:avLst/>
          </a:prstGeom>
          <a:noFill/>
          <a:ln/>
        </p:spPr>
        <p:txBody>
          <a:bodyPr wrap="square" lIns="0" tIns="0" rIns="0" bIns="0" rtlCol="0" anchor="t"/>
          <a:lstStyle/>
          <a:p>
            <a:pPr indent="0" marL="0">
              <a:buNone/>
            </a:pPr>
            <a:r>
              <a:rPr lang="en-US" sz="1900" b="1" dirty="0">
                <a:solidFill>
                  <a:schemeClr val="tx1"/>
                </a:solidFill>
                <a:latin typeface="Arial" pitchFamily="34" charset="0"/>
                <a:ea typeface="Arial" pitchFamily="34" charset="-122"/>
                <a:cs typeface="Arial" pitchFamily="34" charset="-120"/>
              </a:rPr>
              <a:t>Privacy and inclusion</a:t>
            </a:r>
            <a:endParaRPr lang="en-US" sz="1900" dirty="0"/>
          </a:p>
        </p:txBody>
      </p:sp>
      <p:sp>
        <p:nvSpPr>
          <p:cNvPr id="22" name="Text 16"/>
          <p:cNvSpPr txBox="1"/>
          <p:nvPr/>
        </p:nvSpPr>
        <p:spPr>
          <a:xfrm>
            <a:off x="7360920" y="4526280"/>
            <a:ext cx="4023360" cy="1188720"/>
          </a:xfrm>
          <a:prstGeom prst="rect">
            <a:avLst/>
          </a:prstGeom>
          <a:noFill/>
          <a:ln/>
        </p:spPr>
        <p:txBody>
          <a:bodyPr wrap="square" lIns="0" tIns="0" rIns="0" bIns="0" rtlCol="0" anchor="t"/>
          <a:lstStyle/>
          <a:p>
            <a:pPr indent="0" marL="0">
              <a:buNone/>
            </a:pPr>
            <a:r>
              <a:rPr lang="en-US" sz="1400" dirty="0">
                <a:solidFill>
                  <a:schemeClr val="tx2"/>
                </a:solidFill>
              </a:rPr>
              <a:t>Collects only what is needed, in line with Tanzania's personal data protection law. Kiswahili first, with English.</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algn="l" indent="0" marL="0">
              <a:buNone/>
            </a:pPr>
            <a:r>
              <a:rPr lang="en-US" sz="3200" b="1" dirty="0">
                <a:solidFill>
                  <a:schemeClr val="tx1"/>
                </a:solidFill>
                <a:latin typeface="Arial" pitchFamily="34" charset="0"/>
                <a:ea typeface="Arial" pitchFamily="34" charset="-122"/>
                <a:cs typeface="Arial" pitchFamily="34" charset="-120"/>
              </a:rPr>
              <a:t>Where we are today</a:t>
            </a:r>
            <a:endParaRPr lang="en-US" sz="3200" dirty="0"/>
          </a:p>
        </p:txBody>
      </p:sp>
      <p:sp>
        <p:nvSpPr>
          <p:cNvPr id="3" name="Text 1"/>
          <p:cNvSpPr txBox="1"/>
          <p:nvPr/>
        </p:nvSpPr>
        <p:spPr>
          <a:xfrm>
            <a:off x="548640" y="1463040"/>
            <a:ext cx="2560320" cy="1005840"/>
          </a:xfrm>
          <a:prstGeom prst="rect">
            <a:avLst/>
          </a:prstGeom>
          <a:noFill/>
          <a:ln/>
        </p:spPr>
        <p:txBody>
          <a:bodyPr wrap="square" lIns="0" tIns="0" rIns="0" bIns="0" rtlCol="0" anchor="t"/>
          <a:lstStyle/>
          <a:p>
            <a:pPr indent="0" marL="0">
              <a:buNone/>
            </a:pPr>
            <a:r>
              <a:rPr lang="en-US" sz="6000" b="1" dirty="0">
                <a:solidFill>
                  <a:schemeClr val="tx1"/>
                </a:solidFill>
                <a:latin typeface="Arial" pitchFamily="34" charset="0"/>
                <a:ea typeface="Arial" pitchFamily="34" charset="-122"/>
                <a:cs typeface="Arial" pitchFamily="34" charset="-120"/>
              </a:rPr>
              <a:t>5</a:t>
            </a:r>
            <a:endParaRPr lang="en-US" sz="6000" dirty="0"/>
          </a:p>
        </p:txBody>
      </p:sp>
      <p:sp>
        <p:nvSpPr>
          <p:cNvPr id="4" name="Stat mark 1"/>
          <p:cNvSpPr/>
          <p:nvPr/>
        </p:nvSpPr>
        <p:spPr>
          <a:xfrm>
            <a:off x="548640" y="2606040"/>
            <a:ext cx="548640" cy="73152"/>
          </a:xfrm>
          <a:prstGeom prst="rect">
            <a:avLst/>
          </a:prstGeom>
          <a:solidFill>
            <a:schemeClr val="accent1"/>
          </a:solidFill>
          <a:ln/>
        </p:spPr>
      </p:sp>
      <p:sp>
        <p:nvSpPr>
          <p:cNvPr id="5" name="Text 3"/>
          <p:cNvSpPr txBox="1"/>
          <p:nvPr/>
        </p:nvSpPr>
        <p:spPr>
          <a:xfrm>
            <a:off x="548640" y="2834640"/>
            <a:ext cx="2514600" cy="914400"/>
          </a:xfrm>
          <a:prstGeom prst="rect">
            <a:avLst/>
          </a:prstGeom>
          <a:noFill/>
          <a:ln/>
        </p:spPr>
        <p:txBody>
          <a:bodyPr wrap="square" lIns="0" tIns="0" rIns="0" bIns="0" rtlCol="0" anchor="t"/>
          <a:lstStyle/>
          <a:p>
            <a:pPr indent="0" marL="0">
              <a:buNone/>
            </a:pPr>
            <a:r>
              <a:rPr lang="en-US" sz="1500" dirty="0">
                <a:solidFill>
                  <a:schemeClr val="tx2"/>
                </a:solidFill>
              </a:rPr>
              <a:t>releases built: membership, learning, events, community, alumni</a:t>
            </a:r>
            <a:endParaRPr lang="en-US" sz="1500" dirty="0"/>
          </a:p>
        </p:txBody>
      </p:sp>
      <p:sp>
        <p:nvSpPr>
          <p:cNvPr id="6" name="Text 4"/>
          <p:cNvSpPr txBox="1"/>
          <p:nvPr/>
        </p:nvSpPr>
        <p:spPr>
          <a:xfrm>
            <a:off x="3346704" y="1463040"/>
            <a:ext cx="2560320" cy="1005840"/>
          </a:xfrm>
          <a:prstGeom prst="rect">
            <a:avLst/>
          </a:prstGeom>
          <a:noFill/>
          <a:ln/>
        </p:spPr>
        <p:txBody>
          <a:bodyPr wrap="square" lIns="0" tIns="0" rIns="0" bIns="0" rtlCol="0" anchor="t"/>
          <a:lstStyle/>
          <a:p>
            <a:pPr indent="0" marL="0">
              <a:buNone/>
            </a:pPr>
            <a:r>
              <a:rPr lang="en-US" sz="6000" b="1" dirty="0">
                <a:solidFill>
                  <a:schemeClr val="tx1"/>
                </a:solidFill>
                <a:latin typeface="Arial" pitchFamily="34" charset="0"/>
                <a:ea typeface="Arial" pitchFamily="34" charset="-122"/>
                <a:cs typeface="Arial" pitchFamily="34" charset="-120"/>
              </a:rPr>
              <a:t>3</a:t>
            </a:r>
            <a:endParaRPr lang="en-US" sz="6000" dirty="0"/>
          </a:p>
        </p:txBody>
      </p:sp>
      <p:sp>
        <p:nvSpPr>
          <p:cNvPr id="7" name="Stat mark 2"/>
          <p:cNvSpPr/>
          <p:nvPr/>
        </p:nvSpPr>
        <p:spPr>
          <a:xfrm>
            <a:off x="3346704" y="2606040"/>
            <a:ext cx="548640" cy="73152"/>
          </a:xfrm>
          <a:prstGeom prst="rect">
            <a:avLst/>
          </a:prstGeom>
          <a:solidFill>
            <a:schemeClr val="accent1"/>
          </a:solidFill>
          <a:ln/>
        </p:spPr>
      </p:sp>
      <p:sp>
        <p:nvSpPr>
          <p:cNvPr id="8" name="Text 6"/>
          <p:cNvSpPr txBox="1"/>
          <p:nvPr/>
        </p:nvSpPr>
        <p:spPr>
          <a:xfrm>
            <a:off x="3346704" y="2834640"/>
            <a:ext cx="2514600" cy="914400"/>
          </a:xfrm>
          <a:prstGeom prst="rect">
            <a:avLst/>
          </a:prstGeom>
          <a:noFill/>
          <a:ln/>
        </p:spPr>
        <p:txBody>
          <a:bodyPr wrap="square" lIns="0" tIns="0" rIns="0" bIns="0" rtlCol="0" anchor="t"/>
          <a:lstStyle/>
          <a:p>
            <a:pPr indent="0" marL="0">
              <a:buNone/>
            </a:pPr>
            <a:r>
              <a:rPr lang="en-US" sz="1500" dirty="0">
                <a:solidFill>
                  <a:schemeClr val="tx2"/>
                </a:solidFill>
              </a:rPr>
              <a:t>channels: website, Android and iPhone app, Administration Portal</a:t>
            </a:r>
            <a:endParaRPr lang="en-US" sz="1500" dirty="0"/>
          </a:p>
        </p:txBody>
      </p:sp>
      <p:sp>
        <p:nvSpPr>
          <p:cNvPr id="9" name="Text 7"/>
          <p:cNvSpPr txBox="1"/>
          <p:nvPr/>
        </p:nvSpPr>
        <p:spPr>
          <a:xfrm>
            <a:off x="6144768" y="1463040"/>
            <a:ext cx="2560320" cy="1005840"/>
          </a:xfrm>
          <a:prstGeom prst="rect">
            <a:avLst/>
          </a:prstGeom>
          <a:noFill/>
          <a:ln/>
        </p:spPr>
        <p:txBody>
          <a:bodyPr wrap="square" lIns="0" tIns="0" rIns="0" bIns="0" rtlCol="0" anchor="t"/>
          <a:lstStyle/>
          <a:p>
            <a:pPr indent="0" marL="0">
              <a:buNone/>
            </a:pPr>
            <a:r>
              <a:rPr lang="en-US" sz="6000" b="1" dirty="0">
                <a:solidFill>
                  <a:schemeClr val="tx1"/>
                </a:solidFill>
                <a:latin typeface="Arial" pitchFamily="34" charset="0"/>
                <a:ea typeface="Arial" pitchFamily="34" charset="-122"/>
                <a:cs typeface="Arial" pitchFamily="34" charset="-120"/>
              </a:rPr>
              <a:t>2</a:t>
            </a:r>
            <a:endParaRPr lang="en-US" sz="6000" dirty="0"/>
          </a:p>
        </p:txBody>
      </p:sp>
      <p:sp>
        <p:nvSpPr>
          <p:cNvPr id="10" name="Stat mark 3"/>
          <p:cNvSpPr/>
          <p:nvPr/>
        </p:nvSpPr>
        <p:spPr>
          <a:xfrm>
            <a:off x="6144768" y="2606040"/>
            <a:ext cx="548640" cy="73152"/>
          </a:xfrm>
          <a:prstGeom prst="rect">
            <a:avLst/>
          </a:prstGeom>
          <a:solidFill>
            <a:schemeClr val="accent1"/>
          </a:solidFill>
          <a:ln/>
        </p:spPr>
      </p:sp>
      <p:sp>
        <p:nvSpPr>
          <p:cNvPr id="11" name="Text 9"/>
          <p:cNvSpPr txBox="1"/>
          <p:nvPr/>
        </p:nvSpPr>
        <p:spPr>
          <a:xfrm>
            <a:off x="6144768" y="2834640"/>
            <a:ext cx="2514600" cy="914400"/>
          </a:xfrm>
          <a:prstGeom prst="rect">
            <a:avLst/>
          </a:prstGeom>
          <a:noFill/>
          <a:ln/>
        </p:spPr>
        <p:txBody>
          <a:bodyPr wrap="square" lIns="0" tIns="0" rIns="0" bIns="0" rtlCol="0" anchor="t"/>
          <a:lstStyle/>
          <a:p>
            <a:pPr indent="0" marL="0">
              <a:buNone/>
            </a:pPr>
            <a:r>
              <a:rPr lang="en-US" sz="1500" dirty="0">
                <a:solidFill>
                  <a:schemeClr val="tx2"/>
                </a:solidFill>
              </a:rPr>
              <a:t>languages: Kiswahili and English</a:t>
            </a:r>
            <a:endParaRPr lang="en-US" sz="1500" dirty="0"/>
          </a:p>
        </p:txBody>
      </p:sp>
      <p:sp>
        <p:nvSpPr>
          <p:cNvPr id="12" name="Text 10"/>
          <p:cNvSpPr txBox="1"/>
          <p:nvPr/>
        </p:nvSpPr>
        <p:spPr>
          <a:xfrm>
            <a:off x="8942832" y="1463040"/>
            <a:ext cx="2560320" cy="1005840"/>
          </a:xfrm>
          <a:prstGeom prst="rect">
            <a:avLst/>
          </a:prstGeom>
          <a:noFill/>
          <a:ln/>
        </p:spPr>
        <p:txBody>
          <a:bodyPr wrap="square" lIns="0" tIns="0" rIns="0" bIns="0" rtlCol="0" anchor="t"/>
          <a:lstStyle/>
          <a:p>
            <a:pPr indent="0" marL="0">
              <a:buNone/>
            </a:pPr>
            <a:r>
              <a:rPr lang="en-US" sz="6000" b="1" dirty="0">
                <a:solidFill>
                  <a:schemeClr val="tx1"/>
                </a:solidFill>
                <a:latin typeface="Arial" pitchFamily="34" charset="0"/>
                <a:ea typeface="Arial" pitchFamily="34" charset="-122"/>
                <a:cs typeface="Arial" pitchFamily="34" charset="-120"/>
              </a:rPr>
              <a:t>222</a:t>
            </a:r>
            <a:endParaRPr lang="en-US" sz="6000" dirty="0"/>
          </a:p>
        </p:txBody>
      </p:sp>
      <p:sp>
        <p:nvSpPr>
          <p:cNvPr id="13" name="Stat mark 4"/>
          <p:cNvSpPr/>
          <p:nvPr/>
        </p:nvSpPr>
        <p:spPr>
          <a:xfrm>
            <a:off x="8942832" y="2606040"/>
            <a:ext cx="548640" cy="73152"/>
          </a:xfrm>
          <a:prstGeom prst="rect">
            <a:avLst/>
          </a:prstGeom>
          <a:solidFill>
            <a:schemeClr val="accent1"/>
          </a:solidFill>
          <a:ln/>
        </p:spPr>
      </p:sp>
      <p:sp>
        <p:nvSpPr>
          <p:cNvPr id="14" name="Text 12"/>
          <p:cNvSpPr txBox="1"/>
          <p:nvPr/>
        </p:nvSpPr>
        <p:spPr>
          <a:xfrm>
            <a:off x="8942832" y="2834640"/>
            <a:ext cx="2514600" cy="914400"/>
          </a:xfrm>
          <a:prstGeom prst="rect">
            <a:avLst/>
          </a:prstGeom>
          <a:noFill/>
          <a:ln/>
        </p:spPr>
        <p:txBody>
          <a:bodyPr wrap="square" lIns="0" tIns="0" rIns="0" bIns="0" rtlCol="0" anchor="t"/>
          <a:lstStyle/>
          <a:p>
            <a:pPr indent="0" marL="0">
              <a:buNone/>
            </a:pPr>
            <a:r>
              <a:rPr lang="en-US" sz="1500" dirty="0">
                <a:solidFill>
                  <a:schemeClr val="tx2"/>
                </a:solidFill>
              </a:rPr>
              <a:t>automated tests run on every change</a:t>
            </a:r>
            <a:endParaRPr lang="en-US" sz="1500" dirty="0"/>
          </a:p>
        </p:txBody>
      </p:sp>
      <p:sp>
        <p:nvSpPr>
          <p:cNvPr id="15" name="Status note"/>
          <p:cNvSpPr/>
          <p:nvPr/>
        </p:nvSpPr>
        <p:spPr>
          <a:xfrm>
            <a:off x="548640" y="4160520"/>
            <a:ext cx="11064240" cy="1783080"/>
          </a:xfrm>
          <a:prstGeom prst="roundRect">
            <a:avLst>
              <a:gd name="adj" fmla="val 6154"/>
            </a:avLst>
          </a:prstGeom>
          <a:solidFill>
            <a:schemeClr val="bg2"/>
          </a:solidFill>
          <a:ln/>
        </p:spPr>
      </p:sp>
      <p:sp>
        <p:nvSpPr>
          <p:cNvPr id="16" name="Ready circle"/>
          <p:cNvSpPr/>
          <p:nvPr/>
        </p:nvSpPr>
        <p:spPr>
          <a:xfrm>
            <a:off x="868680" y="4480560"/>
            <a:ext cx="640080" cy="640080"/>
          </a:xfrm>
          <a:prstGeom prst="ellipse">
            <a:avLst/>
          </a:prstGeom>
          <a:solidFill>
            <a:schemeClr val="accent1"/>
          </a:solidFill>
          <a:ln/>
        </p:spPr>
      </p:sp>
      <p:pic>
        <p:nvPicPr>
          <p:cNvPr id="17" name="Ready" descr="Ready">    </p:cNvPr>
          <p:cNvPicPr>
            <a:picLocks noChangeAspect="1"/>
          </p:cNvPicPr>
          <p:nvPr/>
        </p:nvPicPr>
        <p:blipFill>
          <a:blip r:embed="rId1"/>
          <a:stretch>
            <a:fillRect/>
          </a:stretch>
        </p:blipFill>
        <p:spPr>
          <a:xfrm>
            <a:off x="1041502" y="4653382"/>
            <a:ext cx="294437" cy="294437"/>
          </a:xfrm>
          <a:prstGeom prst="rect">
            <a:avLst/>
          </a:prstGeom>
        </p:spPr>
      </p:pic>
      <p:sp>
        <p:nvSpPr>
          <p:cNvPr id="18" name="Text 15"/>
          <p:cNvSpPr txBox="1"/>
          <p:nvPr/>
        </p:nvSpPr>
        <p:spPr>
          <a:xfrm>
            <a:off x="1783080" y="4434840"/>
            <a:ext cx="9509760" cy="411480"/>
          </a:xfrm>
          <a:prstGeom prst="rect">
            <a:avLst/>
          </a:prstGeom>
          <a:noFill/>
          <a:ln/>
        </p:spPr>
        <p:txBody>
          <a:bodyPr wrap="square" lIns="0" tIns="0" rIns="0" bIns="0" rtlCol="0" anchor="t"/>
          <a:lstStyle/>
          <a:p>
            <a:pPr indent="0" marL="0">
              <a:buNone/>
            </a:pPr>
            <a:r>
              <a:rPr lang="en-US" sz="1900" b="1" dirty="0">
                <a:solidFill>
                  <a:schemeClr val="tx1"/>
                </a:solidFill>
                <a:latin typeface="Arial" pitchFamily="34" charset="0"/>
                <a:ea typeface="Arial" pitchFamily="34" charset="-122"/>
                <a:cs typeface="Arial" pitchFamily="34" charset="-120"/>
              </a:rPr>
              <a:t>Ready for TRA testing now</a:t>
            </a:r>
            <a:endParaRPr lang="en-US" sz="1900" dirty="0"/>
          </a:p>
        </p:txBody>
      </p:sp>
      <p:sp>
        <p:nvSpPr>
          <p:cNvPr id="19" name="Text 16"/>
          <p:cNvSpPr txBox="1"/>
          <p:nvPr/>
        </p:nvSpPr>
        <p:spPr>
          <a:xfrm>
            <a:off x="1783080" y="4892040"/>
            <a:ext cx="9509760" cy="914400"/>
          </a:xfrm>
          <a:prstGeom prst="rect">
            <a:avLst/>
          </a:prstGeom>
          <a:noFill/>
          <a:ln/>
        </p:spPr>
        <p:txBody>
          <a:bodyPr wrap="square" lIns="0" tIns="0" rIns="0" bIns="0" rtlCol="0" anchor="t"/>
          <a:lstStyle/>
          <a:p>
            <a:pPr indent="0" marL="0">
              <a:buNone/>
            </a:pPr>
            <a:r>
              <a:rPr lang="en-US" sz="1500" dirty="0">
                <a:solidFill>
                  <a:schemeClr val="tx2"/>
                </a:solidFill>
              </a:rPr>
              <a:t>Test site: club.flux.co.tz  ·  Android test app available  ·  iPhone build needs a TRA Apple developer account. Remaining before launch: load real institutions and patrons, TRA user acceptance testing, security review and move to TRA hosting.</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algn="l" indent="0" marL="0">
              <a:buNone/>
            </a:pPr>
            <a:r>
              <a:rPr lang="en-US" sz="3200" b="1" dirty="0">
                <a:solidFill>
                  <a:schemeClr val="tx1"/>
                </a:solidFill>
                <a:latin typeface="Arial" pitchFamily="34" charset="0"/>
                <a:ea typeface="Arial" pitchFamily="34" charset="-122"/>
                <a:cs typeface="Arial" pitchFamily="34" charset="-120"/>
              </a:rPr>
              <a:t>Going forward: pilot, launch, then scale</a:t>
            </a:r>
            <a:endParaRPr lang="en-US" sz="3200" dirty="0"/>
          </a:p>
        </p:txBody>
      </p:sp>
      <p:sp>
        <p:nvSpPr>
          <p:cNvPr id="3" name="Timeline"/>
          <p:cNvSpPr/>
          <p:nvPr/>
        </p:nvSpPr>
        <p:spPr>
          <a:xfrm>
            <a:off x="822960" y="1783080"/>
            <a:ext cx="8851392" cy="0"/>
          </a:xfrm>
          <a:prstGeom prst="line">
            <a:avLst/>
          </a:prstGeom>
          <a:noFill/>
          <a:ln w="25400">
            <a:solidFill>
              <a:schemeClr val="tx1"/>
            </a:solidFill>
            <a:prstDash val="solid"/>
          </a:ln>
        </p:spPr>
      </p:sp>
      <p:sp>
        <p:nvSpPr>
          <p:cNvPr id="4" name="Milestone 1"/>
          <p:cNvSpPr/>
          <p:nvPr/>
        </p:nvSpPr>
        <p:spPr>
          <a:xfrm>
            <a:off x="658368" y="1618488"/>
            <a:ext cx="329184" cy="329184"/>
          </a:xfrm>
          <a:prstGeom prst="ellipse">
            <a:avLst/>
          </a:prstGeom>
          <a:solidFill>
            <a:schemeClr val="accent1"/>
          </a:solidFill>
          <a:ln w="25400">
            <a:solidFill>
              <a:schemeClr val="tx1"/>
            </a:solidFill>
            <a:prstDash val="solid"/>
          </a:ln>
        </p:spPr>
      </p:sp>
      <p:sp>
        <p:nvSpPr>
          <p:cNvPr id="5" name="Text 3"/>
          <p:cNvSpPr txBox="1"/>
          <p:nvPr/>
        </p:nvSpPr>
        <p:spPr>
          <a:xfrm>
            <a:off x="548640" y="2148840"/>
            <a:ext cx="2057400" cy="320040"/>
          </a:xfrm>
          <a:prstGeom prst="rect">
            <a:avLst/>
          </a:prstGeom>
          <a:noFill/>
          <a:ln/>
        </p:spPr>
        <p:txBody>
          <a:bodyPr wrap="square" lIns="0" tIns="0" rIns="0" bIns="0" rtlCol="0" anchor="t"/>
          <a:lstStyle/>
          <a:p>
            <a:pPr indent="0" marL="0">
              <a:buNone/>
            </a:pPr>
            <a:r>
              <a:rPr lang="en-US" sz="1300" b="1" dirty="0">
                <a:solidFill>
                  <a:schemeClr val="tx2"/>
                </a:solidFill>
              </a:rPr>
              <a:t>Nov – Dec 2026</a:t>
            </a:r>
            <a:endParaRPr lang="en-US" sz="1300" dirty="0"/>
          </a:p>
        </p:txBody>
      </p:sp>
      <p:sp>
        <p:nvSpPr>
          <p:cNvPr id="6" name="Text 4"/>
          <p:cNvSpPr txBox="1"/>
          <p:nvPr/>
        </p:nvSpPr>
        <p:spPr>
          <a:xfrm>
            <a:off x="548640" y="2468880"/>
            <a:ext cx="2057400" cy="457200"/>
          </a:xfrm>
          <a:prstGeom prst="rect">
            <a:avLst/>
          </a:prstGeom>
          <a:noFill/>
          <a:ln/>
        </p:spPr>
        <p:txBody>
          <a:bodyPr wrap="square" lIns="0" tIns="0" rIns="0" bIns="0" rtlCol="0" anchor="t"/>
          <a:lstStyle/>
          <a:p>
            <a:pPr indent="0" marL="0">
              <a:buNone/>
            </a:pPr>
            <a:r>
              <a:rPr lang="en-US" sz="2200" b="1" dirty="0">
                <a:solidFill>
                  <a:schemeClr val="tx1"/>
                </a:solidFill>
                <a:latin typeface="Arial" pitchFamily="34" charset="0"/>
                <a:ea typeface="Arial" pitchFamily="34" charset="-122"/>
                <a:cs typeface="Arial" pitchFamily="34" charset="-120"/>
              </a:rPr>
              <a:t>Prepare</a:t>
            </a:r>
            <a:endParaRPr lang="en-US" sz="2200" dirty="0"/>
          </a:p>
        </p:txBody>
      </p:sp>
      <p:sp>
        <p:nvSpPr>
          <p:cNvPr id="7" name="Text 5"/>
          <p:cNvSpPr txBox="1"/>
          <p:nvPr/>
        </p:nvSpPr>
        <p:spPr>
          <a:xfrm>
            <a:off x="548640" y="3063240"/>
            <a:ext cx="2057400" cy="237744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1"/>
                </a:solidFill>
              </a:rPr>
              <a:t>TRA user acceptance testing</a:t>
            </a:r>
            <a:endParaRPr lang="en-US" sz="1400" dirty="0"/>
          </a:p>
          <a:p>
            <a:pPr marL="342900" indent="-342900">
              <a:spcAft>
                <a:spcPts val="800"/>
              </a:spcAft>
              <a:buSzPct val="100000"/>
              <a:buChar char="•"/>
            </a:pPr>
            <a:r>
              <a:rPr lang="en-US" sz="1400" dirty="0">
                <a:solidFill>
                  <a:schemeClr val="tx1"/>
                </a:solidFill>
              </a:rPr>
              <a:t>ICT security and DPO review</a:t>
            </a:r>
            <a:endParaRPr lang="en-US" sz="1400" dirty="0"/>
          </a:p>
          <a:p>
            <a:pPr marL="342900" indent="-342900">
              <a:spcAft>
                <a:spcPts val="800"/>
              </a:spcAft>
              <a:buSzPct val="100000"/>
              <a:buChar char="•"/>
            </a:pPr>
            <a:r>
              <a:rPr lang="en-US" sz="1400" dirty="0">
                <a:solidFill>
                  <a:schemeClr val="tx1"/>
                </a:solidFill>
              </a:rPr>
              <a:t>Move to TRA hosting</a:t>
            </a:r>
            <a:endParaRPr lang="en-US" sz="1400" dirty="0"/>
          </a:p>
        </p:txBody>
      </p:sp>
      <p:sp>
        <p:nvSpPr>
          <p:cNvPr id="8" name="Milestone 2"/>
          <p:cNvSpPr/>
          <p:nvPr/>
        </p:nvSpPr>
        <p:spPr>
          <a:xfrm>
            <a:off x="2871216" y="1618488"/>
            <a:ext cx="329184" cy="329184"/>
          </a:xfrm>
          <a:prstGeom prst="ellipse">
            <a:avLst/>
          </a:prstGeom>
          <a:solidFill>
            <a:schemeClr val="accent1"/>
          </a:solidFill>
          <a:ln w="25400">
            <a:solidFill>
              <a:schemeClr val="tx1"/>
            </a:solidFill>
            <a:prstDash val="solid"/>
          </a:ln>
        </p:spPr>
      </p:sp>
      <p:sp>
        <p:nvSpPr>
          <p:cNvPr id="9" name="Text 7"/>
          <p:cNvSpPr txBox="1"/>
          <p:nvPr/>
        </p:nvSpPr>
        <p:spPr>
          <a:xfrm>
            <a:off x="2761488" y="2148840"/>
            <a:ext cx="2057400" cy="320040"/>
          </a:xfrm>
          <a:prstGeom prst="rect">
            <a:avLst/>
          </a:prstGeom>
          <a:noFill/>
          <a:ln/>
        </p:spPr>
        <p:txBody>
          <a:bodyPr wrap="square" lIns="0" tIns="0" rIns="0" bIns="0" rtlCol="0" anchor="t"/>
          <a:lstStyle/>
          <a:p>
            <a:pPr indent="0" marL="0">
              <a:buNone/>
            </a:pPr>
            <a:r>
              <a:rPr lang="en-US" sz="1300" b="1" dirty="0">
                <a:solidFill>
                  <a:schemeClr val="tx2"/>
                </a:solidFill>
              </a:rPr>
              <a:t>Jan – Feb 2027</a:t>
            </a:r>
            <a:endParaRPr lang="en-US" sz="1300" dirty="0"/>
          </a:p>
        </p:txBody>
      </p:sp>
      <p:sp>
        <p:nvSpPr>
          <p:cNvPr id="10" name="Text 8"/>
          <p:cNvSpPr txBox="1"/>
          <p:nvPr/>
        </p:nvSpPr>
        <p:spPr>
          <a:xfrm>
            <a:off x="2761488" y="2468880"/>
            <a:ext cx="2057400" cy="457200"/>
          </a:xfrm>
          <a:prstGeom prst="rect">
            <a:avLst/>
          </a:prstGeom>
          <a:noFill/>
          <a:ln/>
        </p:spPr>
        <p:txBody>
          <a:bodyPr wrap="square" lIns="0" tIns="0" rIns="0" bIns="0" rtlCol="0" anchor="t"/>
          <a:lstStyle/>
          <a:p>
            <a:pPr indent="0" marL="0">
              <a:buNone/>
            </a:pPr>
            <a:r>
              <a:rPr lang="en-US" sz="2200" b="1" dirty="0">
                <a:solidFill>
                  <a:schemeClr val="tx1"/>
                </a:solidFill>
                <a:latin typeface="Arial" pitchFamily="34" charset="0"/>
                <a:ea typeface="Arial" pitchFamily="34" charset="-122"/>
                <a:cs typeface="Arial" pitchFamily="34" charset="-120"/>
              </a:rPr>
              <a:t>Set up</a:t>
            </a:r>
            <a:endParaRPr lang="en-US" sz="2200" dirty="0"/>
          </a:p>
        </p:txBody>
      </p:sp>
      <p:sp>
        <p:nvSpPr>
          <p:cNvPr id="11" name="Text 9"/>
          <p:cNvSpPr txBox="1"/>
          <p:nvPr/>
        </p:nvSpPr>
        <p:spPr>
          <a:xfrm>
            <a:off x="2761488" y="3063240"/>
            <a:ext cx="2057400" cy="237744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1"/>
                </a:solidFill>
              </a:rPr>
              <a:t>Load institutions and patrons</a:t>
            </a:r>
            <a:endParaRPr lang="en-US" sz="1400" dirty="0"/>
          </a:p>
          <a:p>
            <a:pPr marL="342900" indent="-342900">
              <a:spcAft>
                <a:spcPts val="800"/>
              </a:spcAft>
              <a:buSzPct val="100000"/>
              <a:buChar char="•"/>
            </a:pPr>
            <a:r>
              <a:rPr lang="en-US" sz="1400" dirty="0">
                <a:solidFill>
                  <a:schemeClr val="tx1"/>
                </a:solidFill>
              </a:rPr>
              <a:t>Train regional coordinators</a:t>
            </a:r>
            <a:endParaRPr lang="en-US" sz="1400" dirty="0"/>
          </a:p>
          <a:p>
            <a:pPr marL="342900" indent="-342900">
              <a:spcAft>
                <a:spcPts val="800"/>
              </a:spcAft>
              <a:buSzPct val="100000"/>
              <a:buChar char="•"/>
            </a:pPr>
            <a:r>
              <a:rPr lang="en-US" sz="1400" dirty="0">
                <a:solidFill>
                  <a:schemeClr val="tx1"/>
                </a:solidFill>
              </a:rPr>
              <a:t>Approve first lessons and quizzes</a:t>
            </a:r>
            <a:endParaRPr lang="en-US" sz="1400" dirty="0"/>
          </a:p>
        </p:txBody>
      </p:sp>
      <p:sp>
        <p:nvSpPr>
          <p:cNvPr id="12" name="Milestone 3"/>
          <p:cNvSpPr/>
          <p:nvPr/>
        </p:nvSpPr>
        <p:spPr>
          <a:xfrm>
            <a:off x="5084064" y="1618488"/>
            <a:ext cx="329184" cy="329184"/>
          </a:xfrm>
          <a:prstGeom prst="ellipse">
            <a:avLst/>
          </a:prstGeom>
          <a:solidFill>
            <a:schemeClr val="tx1"/>
          </a:solidFill>
          <a:ln w="25400">
            <a:solidFill>
              <a:schemeClr val="tx1"/>
            </a:solidFill>
            <a:prstDash val="solid"/>
          </a:ln>
        </p:spPr>
      </p:sp>
      <p:sp>
        <p:nvSpPr>
          <p:cNvPr id="13" name="Text 11"/>
          <p:cNvSpPr txBox="1"/>
          <p:nvPr/>
        </p:nvSpPr>
        <p:spPr>
          <a:xfrm>
            <a:off x="4974336" y="2148840"/>
            <a:ext cx="2057400" cy="320040"/>
          </a:xfrm>
          <a:prstGeom prst="rect">
            <a:avLst/>
          </a:prstGeom>
          <a:noFill/>
          <a:ln/>
        </p:spPr>
        <p:txBody>
          <a:bodyPr wrap="square" lIns="0" tIns="0" rIns="0" bIns="0" rtlCol="0" anchor="t"/>
          <a:lstStyle/>
          <a:p>
            <a:pPr indent="0" marL="0">
              <a:buNone/>
            </a:pPr>
            <a:r>
              <a:rPr lang="en-US" sz="1300" b="1" dirty="0">
                <a:solidFill>
                  <a:schemeClr val="tx2"/>
                </a:solidFill>
              </a:rPr>
              <a:t>Mar 2027</a:t>
            </a:r>
            <a:endParaRPr lang="en-US" sz="1300" dirty="0"/>
          </a:p>
        </p:txBody>
      </p:sp>
      <p:sp>
        <p:nvSpPr>
          <p:cNvPr id="14" name="Text 12"/>
          <p:cNvSpPr txBox="1"/>
          <p:nvPr/>
        </p:nvSpPr>
        <p:spPr>
          <a:xfrm>
            <a:off x="4974336" y="2468880"/>
            <a:ext cx="2057400" cy="457200"/>
          </a:xfrm>
          <a:prstGeom prst="rect">
            <a:avLst/>
          </a:prstGeom>
          <a:noFill/>
          <a:ln/>
        </p:spPr>
        <p:txBody>
          <a:bodyPr wrap="square" lIns="0" tIns="0" rIns="0" bIns="0" rtlCol="0" anchor="t"/>
          <a:lstStyle/>
          <a:p>
            <a:pPr indent="0" marL="0">
              <a:buNone/>
            </a:pPr>
            <a:r>
              <a:rPr lang="en-US" sz="2200" b="1" dirty="0">
                <a:solidFill>
                  <a:schemeClr val="tx1"/>
                </a:solidFill>
                <a:latin typeface="Arial" pitchFamily="34" charset="0"/>
                <a:ea typeface="Arial" pitchFamily="34" charset="-122"/>
                <a:cs typeface="Arial" pitchFamily="34" charset="-120"/>
              </a:rPr>
              <a:t>Pilot</a:t>
            </a:r>
            <a:endParaRPr lang="en-US" sz="2200" dirty="0"/>
          </a:p>
        </p:txBody>
      </p:sp>
      <p:sp>
        <p:nvSpPr>
          <p:cNvPr id="15" name="Text 13"/>
          <p:cNvSpPr txBox="1"/>
          <p:nvPr/>
        </p:nvSpPr>
        <p:spPr>
          <a:xfrm>
            <a:off x="4974336" y="3063240"/>
            <a:ext cx="2057400" cy="237744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1"/>
                </a:solidFill>
              </a:rPr>
              <a:t>10 institutions across regions</a:t>
            </a:r>
            <a:endParaRPr lang="en-US" sz="1400" dirty="0"/>
          </a:p>
          <a:p>
            <a:pPr marL="342900" indent="-342900">
              <a:spcAft>
                <a:spcPts val="800"/>
              </a:spcAft>
              <a:buSzPct val="100000"/>
              <a:buChar char="•"/>
            </a:pPr>
            <a:r>
              <a:rPr lang="en-US" sz="1400" dirty="0">
                <a:solidFill>
                  <a:schemeClr val="tx1"/>
                </a:solidFill>
              </a:rPr>
              <a:t>Primary, secondary, college, university</a:t>
            </a:r>
            <a:endParaRPr lang="en-US" sz="1400" dirty="0"/>
          </a:p>
          <a:p>
            <a:pPr marL="342900" indent="-342900">
              <a:spcAft>
                <a:spcPts val="800"/>
              </a:spcAft>
              <a:buSzPct val="100000"/>
              <a:buChar char="•"/>
            </a:pPr>
            <a:r>
              <a:rPr lang="en-US" sz="1400" dirty="0">
                <a:solidFill>
                  <a:schemeClr val="tx1"/>
                </a:solidFill>
              </a:rPr>
              <a:t>Weekly feedback and fixes</a:t>
            </a:r>
            <a:endParaRPr lang="en-US" sz="1400" dirty="0"/>
          </a:p>
        </p:txBody>
      </p:sp>
      <p:sp>
        <p:nvSpPr>
          <p:cNvPr id="16" name="Milestone 4"/>
          <p:cNvSpPr/>
          <p:nvPr/>
        </p:nvSpPr>
        <p:spPr>
          <a:xfrm>
            <a:off x="7296912" y="1618488"/>
            <a:ext cx="329184" cy="329184"/>
          </a:xfrm>
          <a:prstGeom prst="ellipse">
            <a:avLst/>
          </a:prstGeom>
          <a:solidFill>
            <a:schemeClr val="accent1"/>
          </a:solidFill>
          <a:ln w="25400">
            <a:solidFill>
              <a:schemeClr val="tx1"/>
            </a:solidFill>
            <a:prstDash val="solid"/>
          </a:ln>
        </p:spPr>
      </p:sp>
      <p:sp>
        <p:nvSpPr>
          <p:cNvPr id="17" name="Text 15"/>
          <p:cNvSpPr txBox="1"/>
          <p:nvPr/>
        </p:nvSpPr>
        <p:spPr>
          <a:xfrm>
            <a:off x="7187184" y="2148840"/>
            <a:ext cx="2057400" cy="320040"/>
          </a:xfrm>
          <a:prstGeom prst="rect">
            <a:avLst/>
          </a:prstGeom>
          <a:noFill/>
          <a:ln/>
        </p:spPr>
        <p:txBody>
          <a:bodyPr wrap="square" lIns="0" tIns="0" rIns="0" bIns="0" rtlCol="0" anchor="t"/>
          <a:lstStyle/>
          <a:p>
            <a:pPr indent="0" marL="0">
              <a:buNone/>
            </a:pPr>
            <a:r>
              <a:rPr lang="en-US" sz="1300" b="1" dirty="0">
                <a:solidFill>
                  <a:schemeClr val="tx2"/>
                </a:solidFill>
              </a:rPr>
              <a:t>Apr 2027</a:t>
            </a:r>
            <a:endParaRPr lang="en-US" sz="1300" dirty="0"/>
          </a:p>
        </p:txBody>
      </p:sp>
      <p:sp>
        <p:nvSpPr>
          <p:cNvPr id="18" name="Text 16"/>
          <p:cNvSpPr txBox="1"/>
          <p:nvPr/>
        </p:nvSpPr>
        <p:spPr>
          <a:xfrm>
            <a:off x="7187184" y="2468880"/>
            <a:ext cx="2057400" cy="457200"/>
          </a:xfrm>
          <a:prstGeom prst="rect">
            <a:avLst/>
          </a:prstGeom>
          <a:noFill/>
          <a:ln/>
        </p:spPr>
        <p:txBody>
          <a:bodyPr wrap="square" lIns="0" tIns="0" rIns="0" bIns="0" rtlCol="0" anchor="t"/>
          <a:lstStyle/>
          <a:p>
            <a:pPr indent="0" marL="0">
              <a:buNone/>
            </a:pPr>
            <a:r>
              <a:rPr lang="en-US" sz="2200" b="1" dirty="0">
                <a:solidFill>
                  <a:schemeClr val="tx1"/>
                </a:solidFill>
                <a:latin typeface="Arial" pitchFamily="34" charset="0"/>
                <a:ea typeface="Arial" pitchFamily="34" charset="-122"/>
                <a:cs typeface="Arial" pitchFamily="34" charset="-120"/>
              </a:rPr>
              <a:t>Launch</a:t>
            </a:r>
            <a:endParaRPr lang="en-US" sz="2200" dirty="0"/>
          </a:p>
        </p:txBody>
      </p:sp>
      <p:sp>
        <p:nvSpPr>
          <p:cNvPr id="19" name="Text 17"/>
          <p:cNvSpPr txBox="1"/>
          <p:nvPr/>
        </p:nvSpPr>
        <p:spPr>
          <a:xfrm>
            <a:off x="7187184" y="3063240"/>
            <a:ext cx="2057400" cy="237744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1"/>
                </a:solidFill>
              </a:rPr>
              <a:t>Google Play and App Store</a:t>
            </a:r>
            <a:endParaRPr lang="en-US" sz="1400" dirty="0"/>
          </a:p>
          <a:p>
            <a:pPr marL="342900" indent="-342900">
              <a:spcAft>
                <a:spcPts val="800"/>
              </a:spcAft>
              <a:buSzPct val="100000"/>
              <a:buChar char="•"/>
            </a:pPr>
            <a:r>
              <a:rPr lang="en-US" sz="1400" dirty="0">
                <a:solidFill>
                  <a:schemeClr val="tx1"/>
                </a:solidFill>
              </a:rPr>
              <a:t>National launch campaign</a:t>
            </a:r>
            <a:endParaRPr lang="en-US" sz="1400" dirty="0"/>
          </a:p>
          <a:p>
            <a:pPr marL="342900" indent="-342900">
              <a:spcAft>
                <a:spcPts val="800"/>
              </a:spcAft>
              <a:buSzPct val="100000"/>
              <a:buChar char="•"/>
            </a:pPr>
            <a:r>
              <a:rPr lang="en-US" sz="1400" dirty="0">
                <a:solidFill>
                  <a:schemeClr val="tx1"/>
                </a:solidFill>
              </a:rPr>
              <a:t>First national quiz competition</a:t>
            </a:r>
            <a:endParaRPr lang="en-US" sz="1400" dirty="0"/>
          </a:p>
        </p:txBody>
      </p:sp>
      <p:sp>
        <p:nvSpPr>
          <p:cNvPr id="20" name="Milestone 5"/>
          <p:cNvSpPr/>
          <p:nvPr/>
        </p:nvSpPr>
        <p:spPr>
          <a:xfrm>
            <a:off x="9509760" y="1618488"/>
            <a:ext cx="329184" cy="329184"/>
          </a:xfrm>
          <a:prstGeom prst="ellipse">
            <a:avLst/>
          </a:prstGeom>
          <a:solidFill>
            <a:schemeClr val="accent1"/>
          </a:solidFill>
          <a:ln w="25400">
            <a:solidFill>
              <a:schemeClr val="tx1"/>
            </a:solidFill>
            <a:prstDash val="solid"/>
          </a:ln>
        </p:spPr>
      </p:sp>
      <p:sp>
        <p:nvSpPr>
          <p:cNvPr id="21" name="Text 19"/>
          <p:cNvSpPr txBox="1"/>
          <p:nvPr/>
        </p:nvSpPr>
        <p:spPr>
          <a:xfrm>
            <a:off x="9400032" y="2148840"/>
            <a:ext cx="2057400" cy="320040"/>
          </a:xfrm>
          <a:prstGeom prst="rect">
            <a:avLst/>
          </a:prstGeom>
          <a:noFill/>
          <a:ln/>
        </p:spPr>
        <p:txBody>
          <a:bodyPr wrap="square" lIns="0" tIns="0" rIns="0" bIns="0" rtlCol="0" anchor="t"/>
          <a:lstStyle/>
          <a:p>
            <a:pPr indent="0" marL="0">
              <a:buNone/>
            </a:pPr>
            <a:r>
              <a:rPr lang="en-US" sz="1300" b="1" dirty="0">
                <a:solidFill>
                  <a:schemeClr val="tx2"/>
                </a:solidFill>
              </a:rPr>
              <a:t>2027/28</a:t>
            </a:r>
            <a:endParaRPr lang="en-US" sz="1300" dirty="0"/>
          </a:p>
        </p:txBody>
      </p:sp>
      <p:sp>
        <p:nvSpPr>
          <p:cNvPr id="22" name="Text 20"/>
          <p:cNvSpPr txBox="1"/>
          <p:nvPr/>
        </p:nvSpPr>
        <p:spPr>
          <a:xfrm>
            <a:off x="9400032" y="2468880"/>
            <a:ext cx="2057400" cy="457200"/>
          </a:xfrm>
          <a:prstGeom prst="rect">
            <a:avLst/>
          </a:prstGeom>
          <a:noFill/>
          <a:ln/>
        </p:spPr>
        <p:txBody>
          <a:bodyPr wrap="square" lIns="0" tIns="0" rIns="0" bIns="0" rtlCol="0" anchor="t"/>
          <a:lstStyle/>
          <a:p>
            <a:pPr indent="0" marL="0">
              <a:buNone/>
            </a:pPr>
            <a:r>
              <a:rPr lang="en-US" sz="2200" b="1" dirty="0">
                <a:solidFill>
                  <a:schemeClr val="tx1"/>
                </a:solidFill>
                <a:latin typeface="Arial" pitchFamily="34" charset="0"/>
                <a:ea typeface="Arial" pitchFamily="34" charset="-122"/>
                <a:cs typeface="Arial" pitchFamily="34" charset="-120"/>
              </a:rPr>
              <a:t>Scale</a:t>
            </a:r>
            <a:endParaRPr lang="en-US" sz="2200" dirty="0"/>
          </a:p>
        </p:txBody>
      </p:sp>
      <p:sp>
        <p:nvSpPr>
          <p:cNvPr id="23" name="Text 21"/>
          <p:cNvSpPr txBox="1"/>
          <p:nvPr/>
        </p:nvSpPr>
        <p:spPr>
          <a:xfrm>
            <a:off x="9400032" y="3063240"/>
            <a:ext cx="2057400" cy="237744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1"/>
                </a:solidFill>
              </a:rPr>
              <a:t>All regions and Zanzibar</a:t>
            </a:r>
            <a:endParaRPr lang="en-US" sz="1400" dirty="0"/>
          </a:p>
          <a:p>
            <a:pPr marL="342900" indent="-342900">
              <a:spcAft>
                <a:spcPts val="800"/>
              </a:spcAft>
              <a:buSzPct val="100000"/>
              <a:buChar char="•"/>
            </a:pPr>
            <a:r>
              <a:rPr lang="en-US" sz="1400" dirty="0">
                <a:solidFill>
                  <a:schemeClr val="tx1"/>
                </a:solidFill>
              </a:rPr>
              <a:t>Link TIN check to TRA systems</a:t>
            </a:r>
            <a:endParaRPr lang="en-US" sz="1400" dirty="0"/>
          </a:p>
          <a:p>
            <a:pPr marL="342900" indent="-342900">
              <a:spcAft>
                <a:spcPts val="800"/>
              </a:spcAft>
              <a:buSzPct val="100000"/>
              <a:buChar char="•"/>
            </a:pPr>
            <a:r>
              <a:rPr lang="en-US" sz="1400" dirty="0">
                <a:solidFill>
                  <a:schemeClr val="tx1"/>
                </a:solidFill>
              </a:rPr>
              <a:t>Push notifications, annual awards</a:t>
            </a:r>
            <a:endParaRPr lang="en-US" sz="1400" dirty="0"/>
          </a:p>
        </p:txBody>
      </p:sp>
      <p:sp>
        <p:nvSpPr>
          <p:cNvPr id="24" name="Text 22"/>
          <p:cNvSpPr txBox="1"/>
          <p:nvPr/>
        </p:nvSpPr>
        <p:spPr>
          <a:xfrm>
            <a:off x="548640" y="6035040"/>
            <a:ext cx="10972800" cy="274320"/>
          </a:xfrm>
          <a:prstGeom prst="rect">
            <a:avLst/>
          </a:prstGeom>
          <a:noFill/>
          <a:ln/>
        </p:spPr>
        <p:txBody>
          <a:bodyPr wrap="square" lIns="0" tIns="0" rIns="0" bIns="0" rtlCol="0" anchor="t"/>
          <a:lstStyle/>
          <a:p>
            <a:pPr indent="0" marL="0">
              <a:buNone/>
            </a:pPr>
            <a:r>
              <a:rPr lang="en-US" sz="1100" i="1" dirty="0">
                <a:solidFill>
                  <a:schemeClr val="tx2"/>
                </a:solidFill>
              </a:rPr>
              <a:t>Pilot and store-launch dates follow the delivery plan (pilot 1 Mar 2027, store launch 12 Apr 2027).</a:t>
            </a:r>
            <a:endParaRPr lang="en-US" sz="11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algn="l" indent="0" marL="0">
              <a:buNone/>
            </a:pPr>
            <a:r>
              <a:rPr lang="en-US" sz="3200" b="1" dirty="0">
                <a:solidFill>
                  <a:schemeClr val="tx1"/>
                </a:solidFill>
                <a:latin typeface="Arial" pitchFamily="34" charset="0"/>
                <a:ea typeface="Arial" pitchFamily="34" charset="-122"/>
                <a:cs typeface="Arial" pitchFamily="34" charset="-120"/>
              </a:rPr>
              <a:t>Decisions requested from management today</a:t>
            </a:r>
            <a:endParaRPr lang="en-US" sz="3200" dirty="0"/>
          </a:p>
        </p:txBody>
      </p:sp>
      <p:sp>
        <p:nvSpPr>
          <p:cNvPr id="3" name="Decision number 1"/>
          <p:cNvSpPr/>
          <p:nvPr/>
        </p:nvSpPr>
        <p:spPr>
          <a:xfrm>
            <a:off x="548640" y="1463040"/>
            <a:ext cx="640080" cy="640080"/>
          </a:xfrm>
          <a:prstGeom prst="ellipse">
            <a:avLst/>
          </a:prstGeom>
          <a:solidFill>
            <a:schemeClr val="accent1"/>
          </a:solidFill>
          <a:ln/>
        </p:spPr>
      </p:sp>
      <p:sp>
        <p:nvSpPr>
          <p:cNvPr id="4" name="Text 2"/>
          <p:cNvSpPr txBox="1"/>
          <p:nvPr/>
        </p:nvSpPr>
        <p:spPr>
          <a:xfrm>
            <a:off x="548640" y="1463040"/>
            <a:ext cx="640080" cy="640080"/>
          </a:xfrm>
          <a:prstGeom prst="rect">
            <a:avLst/>
          </a:prstGeom>
          <a:noFill/>
          <a:ln/>
        </p:spPr>
        <p:txBody>
          <a:bodyPr wrap="square" lIns="0" tIns="0" rIns="0" bIns="0" rtlCol="0" anchor="ctr"/>
          <a:lstStyle/>
          <a:p>
            <a:pPr algn="ctr" indent="0" marL="0">
              <a:buNone/>
            </a:pPr>
            <a:r>
              <a:rPr lang="en-US" sz="2200" b="1" dirty="0">
                <a:solidFill>
                  <a:schemeClr val="tx1"/>
                </a:solidFill>
                <a:latin typeface="Arial" pitchFamily="34" charset="0"/>
                <a:ea typeface="Arial" pitchFamily="34" charset="-122"/>
                <a:cs typeface="Arial" pitchFamily="34" charset="-120"/>
              </a:rPr>
              <a:t>1</a:t>
            </a:r>
            <a:endParaRPr lang="en-US" sz="2200" dirty="0"/>
          </a:p>
        </p:txBody>
      </p:sp>
      <p:sp>
        <p:nvSpPr>
          <p:cNvPr id="5" name="Text 3"/>
          <p:cNvSpPr txBox="1"/>
          <p:nvPr/>
        </p:nvSpPr>
        <p:spPr>
          <a:xfrm>
            <a:off x="1417320" y="1444752"/>
            <a:ext cx="10058400" cy="365760"/>
          </a:xfrm>
          <a:prstGeom prst="rect">
            <a:avLst/>
          </a:prstGeom>
          <a:noFill/>
          <a:ln/>
        </p:spPr>
        <p:txBody>
          <a:bodyPr wrap="square" lIns="0" tIns="0" rIns="0" bIns="0" rtlCol="0" anchor="t"/>
          <a:lstStyle/>
          <a:p>
            <a:pPr indent="0" marL="0">
              <a:buNone/>
            </a:pPr>
            <a:r>
              <a:rPr lang="en-US" sz="1900" b="1" dirty="0">
                <a:solidFill>
                  <a:schemeClr val="tx1"/>
                </a:solidFill>
                <a:latin typeface="Arial" pitchFamily="34" charset="0"/>
                <a:ea typeface="Arial" pitchFamily="34" charset="-122"/>
                <a:cs typeface="Arial" pitchFamily="34" charset="-120"/>
              </a:rPr>
              <a:t>Approve the pilot</a:t>
            </a:r>
            <a:endParaRPr lang="en-US" sz="1900" dirty="0"/>
          </a:p>
        </p:txBody>
      </p:sp>
      <p:sp>
        <p:nvSpPr>
          <p:cNvPr id="6" name="Text 4"/>
          <p:cNvSpPr txBox="1"/>
          <p:nvPr/>
        </p:nvSpPr>
        <p:spPr>
          <a:xfrm>
            <a:off x="1417320" y="1810512"/>
            <a:ext cx="10058400" cy="365760"/>
          </a:xfrm>
          <a:prstGeom prst="rect">
            <a:avLst/>
          </a:prstGeom>
          <a:noFill/>
          <a:ln/>
        </p:spPr>
        <p:txBody>
          <a:bodyPr wrap="square" lIns="0" tIns="0" rIns="0" bIns="0" rtlCol="0" anchor="t"/>
          <a:lstStyle/>
          <a:p>
            <a:pPr indent="0" marL="0">
              <a:buNone/>
            </a:pPr>
            <a:r>
              <a:rPr lang="en-US" sz="1500" dirty="0">
                <a:solidFill>
                  <a:schemeClr val="tx2"/>
                </a:solidFill>
              </a:rPr>
              <a:t>10 institutions from March 2027, covering primary, secondary, college and university.</a:t>
            </a:r>
            <a:endParaRPr lang="en-US" sz="1500" dirty="0"/>
          </a:p>
        </p:txBody>
      </p:sp>
      <p:sp>
        <p:nvSpPr>
          <p:cNvPr id="7" name="Decision number 2"/>
          <p:cNvSpPr/>
          <p:nvPr/>
        </p:nvSpPr>
        <p:spPr>
          <a:xfrm>
            <a:off x="548640" y="2359152"/>
            <a:ext cx="640080" cy="640080"/>
          </a:xfrm>
          <a:prstGeom prst="ellipse">
            <a:avLst/>
          </a:prstGeom>
          <a:solidFill>
            <a:schemeClr val="accent1"/>
          </a:solidFill>
          <a:ln/>
        </p:spPr>
      </p:sp>
      <p:sp>
        <p:nvSpPr>
          <p:cNvPr id="8" name="Text 6"/>
          <p:cNvSpPr txBox="1"/>
          <p:nvPr/>
        </p:nvSpPr>
        <p:spPr>
          <a:xfrm>
            <a:off x="548640" y="2359152"/>
            <a:ext cx="640080" cy="640080"/>
          </a:xfrm>
          <a:prstGeom prst="rect">
            <a:avLst/>
          </a:prstGeom>
          <a:noFill/>
          <a:ln/>
        </p:spPr>
        <p:txBody>
          <a:bodyPr wrap="square" lIns="0" tIns="0" rIns="0" bIns="0" rtlCol="0" anchor="ctr"/>
          <a:lstStyle/>
          <a:p>
            <a:pPr algn="ctr" indent="0" marL="0">
              <a:buNone/>
            </a:pPr>
            <a:r>
              <a:rPr lang="en-US" sz="2200" b="1" dirty="0">
                <a:solidFill>
                  <a:schemeClr val="tx1"/>
                </a:solidFill>
                <a:latin typeface="Arial" pitchFamily="34" charset="0"/>
                <a:ea typeface="Arial" pitchFamily="34" charset="-122"/>
                <a:cs typeface="Arial" pitchFamily="34" charset="-120"/>
              </a:rPr>
              <a:t>2</a:t>
            </a:r>
            <a:endParaRPr lang="en-US" sz="2200" dirty="0"/>
          </a:p>
        </p:txBody>
      </p:sp>
      <p:sp>
        <p:nvSpPr>
          <p:cNvPr id="9" name="Text 7"/>
          <p:cNvSpPr txBox="1"/>
          <p:nvPr/>
        </p:nvSpPr>
        <p:spPr>
          <a:xfrm>
            <a:off x="1417320" y="2340864"/>
            <a:ext cx="10058400" cy="365760"/>
          </a:xfrm>
          <a:prstGeom prst="rect">
            <a:avLst/>
          </a:prstGeom>
          <a:noFill/>
          <a:ln/>
        </p:spPr>
        <p:txBody>
          <a:bodyPr wrap="square" lIns="0" tIns="0" rIns="0" bIns="0" rtlCol="0" anchor="t"/>
          <a:lstStyle/>
          <a:p>
            <a:pPr indent="0" marL="0">
              <a:buNone/>
            </a:pPr>
            <a:r>
              <a:rPr lang="en-US" sz="1900" b="1" dirty="0">
                <a:solidFill>
                  <a:schemeClr val="tx1"/>
                </a:solidFill>
                <a:latin typeface="Arial" pitchFamily="34" charset="0"/>
                <a:ea typeface="Arial" pitchFamily="34" charset="-122"/>
                <a:cs typeface="Arial" pitchFamily="34" charset="-120"/>
              </a:rPr>
              <a:t>Name the business owner</a:t>
            </a:r>
            <a:endParaRPr lang="en-US" sz="1900" dirty="0"/>
          </a:p>
        </p:txBody>
      </p:sp>
      <p:sp>
        <p:nvSpPr>
          <p:cNvPr id="10" name="Text 8"/>
          <p:cNvSpPr txBox="1"/>
          <p:nvPr/>
        </p:nvSpPr>
        <p:spPr>
          <a:xfrm>
            <a:off x="1417320" y="2706624"/>
            <a:ext cx="10058400" cy="365760"/>
          </a:xfrm>
          <a:prstGeom prst="rect">
            <a:avLst/>
          </a:prstGeom>
          <a:noFill/>
          <a:ln/>
        </p:spPr>
        <p:txBody>
          <a:bodyPr wrap="square" lIns="0" tIns="0" rIns="0" bIns="0" rtlCol="0" anchor="t"/>
          <a:lstStyle/>
          <a:p>
            <a:pPr indent="0" marL="0">
              <a:buNone/>
            </a:pPr>
            <a:r>
              <a:rPr lang="en-US" sz="1500" dirty="0">
                <a:solidFill>
                  <a:schemeClr val="tx2"/>
                </a:solidFill>
              </a:rPr>
              <a:t>Taxpayer Services and Education to own the programme, content and regional coordinators.</a:t>
            </a:r>
            <a:endParaRPr lang="en-US" sz="1500" dirty="0"/>
          </a:p>
        </p:txBody>
      </p:sp>
      <p:sp>
        <p:nvSpPr>
          <p:cNvPr id="11" name="Decision number 3"/>
          <p:cNvSpPr/>
          <p:nvPr/>
        </p:nvSpPr>
        <p:spPr>
          <a:xfrm>
            <a:off x="548640" y="3255264"/>
            <a:ext cx="640080" cy="640080"/>
          </a:xfrm>
          <a:prstGeom prst="ellipse">
            <a:avLst/>
          </a:prstGeom>
          <a:solidFill>
            <a:schemeClr val="accent1"/>
          </a:solidFill>
          <a:ln/>
        </p:spPr>
      </p:sp>
      <p:sp>
        <p:nvSpPr>
          <p:cNvPr id="12" name="Text 10"/>
          <p:cNvSpPr txBox="1"/>
          <p:nvPr/>
        </p:nvSpPr>
        <p:spPr>
          <a:xfrm>
            <a:off x="548640" y="3255264"/>
            <a:ext cx="640080" cy="640080"/>
          </a:xfrm>
          <a:prstGeom prst="rect">
            <a:avLst/>
          </a:prstGeom>
          <a:noFill/>
          <a:ln/>
        </p:spPr>
        <p:txBody>
          <a:bodyPr wrap="square" lIns="0" tIns="0" rIns="0" bIns="0" rtlCol="0" anchor="ctr"/>
          <a:lstStyle/>
          <a:p>
            <a:pPr algn="ctr" indent="0" marL="0">
              <a:buNone/>
            </a:pPr>
            <a:r>
              <a:rPr lang="en-US" sz="2200" b="1" dirty="0">
                <a:solidFill>
                  <a:schemeClr val="tx1"/>
                </a:solidFill>
                <a:latin typeface="Arial" pitchFamily="34" charset="0"/>
                <a:ea typeface="Arial" pitchFamily="34" charset="-122"/>
                <a:cs typeface="Arial" pitchFamily="34" charset="-120"/>
              </a:rPr>
              <a:t>3</a:t>
            </a:r>
            <a:endParaRPr lang="en-US" sz="2200" dirty="0"/>
          </a:p>
        </p:txBody>
      </p:sp>
      <p:sp>
        <p:nvSpPr>
          <p:cNvPr id="13" name="Text 11"/>
          <p:cNvSpPr txBox="1"/>
          <p:nvPr/>
        </p:nvSpPr>
        <p:spPr>
          <a:xfrm>
            <a:off x="1417320" y="3236976"/>
            <a:ext cx="10058400" cy="365760"/>
          </a:xfrm>
          <a:prstGeom prst="rect">
            <a:avLst/>
          </a:prstGeom>
          <a:noFill/>
          <a:ln/>
        </p:spPr>
        <p:txBody>
          <a:bodyPr wrap="square" lIns="0" tIns="0" rIns="0" bIns="0" rtlCol="0" anchor="t"/>
          <a:lstStyle/>
          <a:p>
            <a:pPr indent="0" marL="0">
              <a:buNone/>
            </a:pPr>
            <a:r>
              <a:rPr lang="en-US" sz="1900" b="1" dirty="0">
                <a:solidFill>
                  <a:schemeClr val="tx1"/>
                </a:solidFill>
                <a:latin typeface="Arial" pitchFamily="34" charset="0"/>
                <a:ea typeface="Arial" pitchFamily="34" charset="-122"/>
                <a:cs typeface="Arial" pitchFamily="34" charset="-120"/>
              </a:rPr>
              <a:t>Approve TRA hosting and review</a:t>
            </a:r>
            <a:endParaRPr lang="en-US" sz="1900" dirty="0"/>
          </a:p>
        </p:txBody>
      </p:sp>
      <p:sp>
        <p:nvSpPr>
          <p:cNvPr id="14" name="Text 12"/>
          <p:cNvSpPr txBox="1"/>
          <p:nvPr/>
        </p:nvSpPr>
        <p:spPr>
          <a:xfrm>
            <a:off x="1417320" y="3602736"/>
            <a:ext cx="10058400" cy="365760"/>
          </a:xfrm>
          <a:prstGeom prst="rect">
            <a:avLst/>
          </a:prstGeom>
          <a:noFill/>
          <a:ln/>
        </p:spPr>
        <p:txBody>
          <a:bodyPr wrap="square" lIns="0" tIns="0" rIns="0" bIns="0" rtlCol="0" anchor="t"/>
          <a:lstStyle/>
          <a:p>
            <a:pPr indent="0" marL="0">
              <a:buNone/>
            </a:pPr>
            <a:r>
              <a:rPr lang="en-US" sz="1500" dirty="0">
                <a:solidFill>
                  <a:schemeClr val="tx2"/>
                </a:solidFill>
              </a:rPr>
              <a:t>Host in the TRA data centre, after TRA ICT Security and DPO sign-off.</a:t>
            </a:r>
            <a:endParaRPr lang="en-US" sz="1500" dirty="0"/>
          </a:p>
        </p:txBody>
      </p:sp>
      <p:sp>
        <p:nvSpPr>
          <p:cNvPr id="15" name="Decision number 4"/>
          <p:cNvSpPr/>
          <p:nvPr/>
        </p:nvSpPr>
        <p:spPr>
          <a:xfrm>
            <a:off x="548640" y="4151376"/>
            <a:ext cx="640080" cy="640080"/>
          </a:xfrm>
          <a:prstGeom prst="ellipse">
            <a:avLst/>
          </a:prstGeom>
          <a:solidFill>
            <a:schemeClr val="accent1"/>
          </a:solidFill>
          <a:ln/>
        </p:spPr>
      </p:sp>
      <p:sp>
        <p:nvSpPr>
          <p:cNvPr id="16" name="Text 14"/>
          <p:cNvSpPr txBox="1"/>
          <p:nvPr/>
        </p:nvSpPr>
        <p:spPr>
          <a:xfrm>
            <a:off x="548640" y="4151376"/>
            <a:ext cx="640080" cy="640080"/>
          </a:xfrm>
          <a:prstGeom prst="rect">
            <a:avLst/>
          </a:prstGeom>
          <a:noFill/>
          <a:ln/>
        </p:spPr>
        <p:txBody>
          <a:bodyPr wrap="square" lIns="0" tIns="0" rIns="0" bIns="0" rtlCol="0" anchor="ctr"/>
          <a:lstStyle/>
          <a:p>
            <a:pPr algn="ctr" indent="0" marL="0">
              <a:buNone/>
            </a:pPr>
            <a:r>
              <a:rPr lang="en-US" sz="2200" b="1" dirty="0">
                <a:solidFill>
                  <a:schemeClr val="tx1"/>
                </a:solidFill>
                <a:latin typeface="Arial" pitchFamily="34" charset="0"/>
                <a:ea typeface="Arial" pitchFamily="34" charset="-122"/>
                <a:cs typeface="Arial" pitchFamily="34" charset="-120"/>
              </a:rPr>
              <a:t>4</a:t>
            </a:r>
            <a:endParaRPr lang="en-US" sz="2200" dirty="0"/>
          </a:p>
        </p:txBody>
      </p:sp>
      <p:sp>
        <p:nvSpPr>
          <p:cNvPr id="17" name="Text 15"/>
          <p:cNvSpPr txBox="1"/>
          <p:nvPr/>
        </p:nvSpPr>
        <p:spPr>
          <a:xfrm>
            <a:off x="1417320" y="4133088"/>
            <a:ext cx="10058400" cy="365760"/>
          </a:xfrm>
          <a:prstGeom prst="rect">
            <a:avLst/>
          </a:prstGeom>
          <a:noFill/>
          <a:ln/>
        </p:spPr>
        <p:txBody>
          <a:bodyPr wrap="square" lIns="0" tIns="0" rIns="0" bIns="0" rtlCol="0" anchor="t"/>
          <a:lstStyle/>
          <a:p>
            <a:pPr indent="0" marL="0">
              <a:buNone/>
            </a:pPr>
            <a:r>
              <a:rPr lang="en-US" sz="1900" b="1" dirty="0">
                <a:solidFill>
                  <a:schemeClr val="tx1"/>
                </a:solidFill>
                <a:latin typeface="Arial" pitchFamily="34" charset="0"/>
                <a:ea typeface="Arial" pitchFamily="34" charset="-122"/>
                <a:cs typeface="Arial" pitchFamily="34" charset="-120"/>
              </a:rPr>
              <a:t>Approve the operating budget</a:t>
            </a:r>
            <a:endParaRPr lang="en-US" sz="1900" dirty="0"/>
          </a:p>
        </p:txBody>
      </p:sp>
      <p:sp>
        <p:nvSpPr>
          <p:cNvPr id="18" name="Text 16"/>
          <p:cNvSpPr txBox="1"/>
          <p:nvPr/>
        </p:nvSpPr>
        <p:spPr>
          <a:xfrm>
            <a:off x="1417320" y="4498848"/>
            <a:ext cx="10058400" cy="365760"/>
          </a:xfrm>
          <a:prstGeom prst="rect">
            <a:avLst/>
          </a:prstGeom>
          <a:noFill/>
          <a:ln/>
        </p:spPr>
        <p:txBody>
          <a:bodyPr wrap="square" lIns="0" tIns="0" rIns="0" bIns="0" rtlCol="0" anchor="t"/>
          <a:lstStyle/>
          <a:p>
            <a:pPr indent="0" marL="0">
              <a:buNone/>
            </a:pPr>
            <a:r>
              <a:rPr lang="en-US" sz="1500" dirty="0">
                <a:solidFill>
                  <a:schemeClr val="tx2"/>
                </a:solidFill>
              </a:rPr>
              <a:t>SMS, Google Play and Apple developer accounts, rewards and certificates.</a:t>
            </a:r>
            <a:endParaRPr lang="en-US" sz="1500" dirty="0"/>
          </a:p>
        </p:txBody>
      </p:sp>
      <p:sp>
        <p:nvSpPr>
          <p:cNvPr id="19" name="Decision number 5"/>
          <p:cNvSpPr/>
          <p:nvPr/>
        </p:nvSpPr>
        <p:spPr>
          <a:xfrm>
            <a:off x="548640" y="5047488"/>
            <a:ext cx="640080" cy="640080"/>
          </a:xfrm>
          <a:prstGeom prst="ellipse">
            <a:avLst/>
          </a:prstGeom>
          <a:solidFill>
            <a:schemeClr val="accent1"/>
          </a:solidFill>
          <a:ln/>
        </p:spPr>
      </p:sp>
      <p:sp>
        <p:nvSpPr>
          <p:cNvPr id="20" name="Text 18"/>
          <p:cNvSpPr txBox="1"/>
          <p:nvPr/>
        </p:nvSpPr>
        <p:spPr>
          <a:xfrm>
            <a:off x="548640" y="5047488"/>
            <a:ext cx="640080" cy="640080"/>
          </a:xfrm>
          <a:prstGeom prst="rect">
            <a:avLst/>
          </a:prstGeom>
          <a:noFill/>
          <a:ln/>
        </p:spPr>
        <p:txBody>
          <a:bodyPr wrap="square" lIns="0" tIns="0" rIns="0" bIns="0" rtlCol="0" anchor="ctr"/>
          <a:lstStyle/>
          <a:p>
            <a:pPr algn="ctr" indent="0" marL="0">
              <a:buNone/>
            </a:pPr>
            <a:r>
              <a:rPr lang="en-US" sz="2200" b="1" dirty="0">
                <a:solidFill>
                  <a:schemeClr val="tx1"/>
                </a:solidFill>
                <a:latin typeface="Arial" pitchFamily="34" charset="0"/>
                <a:ea typeface="Arial" pitchFamily="34" charset="-122"/>
                <a:cs typeface="Arial" pitchFamily="34" charset="-120"/>
              </a:rPr>
              <a:t>5</a:t>
            </a:r>
            <a:endParaRPr lang="en-US" sz="2200" dirty="0"/>
          </a:p>
        </p:txBody>
      </p:sp>
      <p:sp>
        <p:nvSpPr>
          <p:cNvPr id="21" name="Text 19"/>
          <p:cNvSpPr txBox="1"/>
          <p:nvPr/>
        </p:nvSpPr>
        <p:spPr>
          <a:xfrm>
            <a:off x="1417320" y="5029200"/>
            <a:ext cx="10058400" cy="365760"/>
          </a:xfrm>
          <a:prstGeom prst="rect">
            <a:avLst/>
          </a:prstGeom>
          <a:noFill/>
          <a:ln/>
        </p:spPr>
        <p:txBody>
          <a:bodyPr wrap="square" lIns="0" tIns="0" rIns="0" bIns="0" rtlCol="0" anchor="t"/>
          <a:lstStyle/>
          <a:p>
            <a:pPr indent="0" marL="0">
              <a:buNone/>
            </a:pPr>
            <a:r>
              <a:rPr lang="en-US" sz="1900" b="1" dirty="0">
                <a:solidFill>
                  <a:schemeClr val="tx1"/>
                </a:solidFill>
                <a:latin typeface="Arial" pitchFamily="34" charset="0"/>
                <a:ea typeface="Arial" pitchFamily="34" charset="-122"/>
                <a:cs typeface="Arial" pitchFamily="34" charset="-120"/>
              </a:rPr>
              <a:t>Partner with education authorities</a:t>
            </a:r>
            <a:endParaRPr lang="en-US" sz="1900" dirty="0"/>
          </a:p>
        </p:txBody>
      </p:sp>
      <p:sp>
        <p:nvSpPr>
          <p:cNvPr id="22" name="Text 20"/>
          <p:cNvSpPr txBox="1"/>
          <p:nvPr/>
        </p:nvSpPr>
        <p:spPr>
          <a:xfrm>
            <a:off x="1417320" y="5394960"/>
            <a:ext cx="10058400" cy="365760"/>
          </a:xfrm>
          <a:prstGeom prst="rect">
            <a:avLst/>
          </a:prstGeom>
          <a:noFill/>
          <a:ln/>
        </p:spPr>
        <p:txBody>
          <a:bodyPr wrap="square" lIns="0" tIns="0" rIns="0" bIns="0" rtlCol="0" anchor="t"/>
          <a:lstStyle/>
          <a:p>
            <a:pPr indent="0" marL="0">
              <a:buNone/>
            </a:pPr>
            <a:r>
              <a:rPr lang="en-US" sz="1500" dirty="0">
                <a:solidFill>
                  <a:schemeClr val="tx2"/>
                </a:solidFill>
              </a:rPr>
              <a:t>Engage the Ministry of Education and PO-RALG to reach every school.</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640080" y="2011680"/>
            <a:ext cx="6766560" cy="1737360"/>
          </a:xfrm>
          <a:prstGeom prst="rect">
            <a:avLst/>
          </a:prstGeom>
          <a:noFill/>
          <a:ln/>
        </p:spPr>
        <p:txBody>
          <a:bodyPr wrap="square" lIns="0" tIns="0" rIns="0" bIns="0" rtlCol="0" anchor="t"/>
          <a:lstStyle/>
          <a:p>
            <a:pPr algn="l" indent="0" marL="0">
              <a:buNone/>
            </a:pPr>
            <a:r>
              <a:rPr lang="en-US" sz="4400" b="1" dirty="0">
                <a:solidFill>
                  <a:schemeClr val="bg1"/>
                </a:solidFill>
                <a:latin typeface="Arial" pitchFamily="34" charset="0"/>
                <a:ea typeface="Arial" pitchFamily="34" charset="-122"/>
                <a:cs typeface="Arial" pitchFamily="34" charset="-120"/>
              </a:rPr>
              <a:t>Asante sana</a:t>
            </a:r>
            <a:endParaRPr lang="en-US" sz="4400" dirty="0"/>
          </a:p>
        </p:txBody>
      </p:sp>
      <p:sp>
        <p:nvSpPr>
          <p:cNvPr id="3" name="Text 0"/>
          <p:cNvSpPr/>
          <p:nvPr>
            <p:ph idx="101" type="body" hasCustomPrompt="1"/>
          </p:nvPr>
        </p:nvSpPr>
        <p:spPr>
          <a:xfrm>
            <a:off x="640080" y="3886200"/>
            <a:ext cx="6400800" cy="1097280"/>
          </a:xfrm>
          <a:prstGeom prst="rect">
            <a:avLst/>
          </a:prstGeom>
          <a:noFill/>
          <a:ln/>
        </p:spPr>
        <p:txBody>
          <a:bodyPr wrap="square" lIns="0" tIns="0" rIns="0" bIns="0" rtlCol="0" anchor="t"/>
          <a:lstStyle/>
          <a:p>
            <a:pPr algn="l" indent="0" marL="0">
              <a:buNone/>
            </a:pPr>
            <a:r>
              <a:rPr lang="en-US" sz="2000" dirty="0">
                <a:solidFill>
                  <a:schemeClr val="accent1"/>
                </a:solidFill>
              </a:rPr>
              <a:t>Kodi hujenga shule, barabara na hospitali zetu. Tax Club builds the people who will pay for them.</a:t>
            </a:r>
            <a:endParaRPr lang="en-US" sz="2000" dirty="0"/>
          </a:p>
        </p:txBody>
      </p:sp>
      <p:sp>
        <p:nvSpPr>
          <p:cNvPr id="4" name="Text 2"/>
          <p:cNvSpPr txBox="1"/>
          <p:nvPr/>
        </p:nvSpPr>
        <p:spPr>
          <a:xfrm>
            <a:off x="640080" y="5989320"/>
            <a:ext cx="6400800" cy="365760"/>
          </a:xfrm>
          <a:prstGeom prst="rect">
            <a:avLst/>
          </a:prstGeom>
          <a:noFill/>
          <a:ln/>
        </p:spPr>
        <p:txBody>
          <a:bodyPr wrap="square" lIns="0" tIns="0" rIns="0" bIns="0" rtlCol="0" anchor="t"/>
          <a:lstStyle/>
          <a:p>
            <a:pPr indent="0" marL="0">
              <a:buNone/>
            </a:pPr>
            <a:r>
              <a:rPr lang="en-US" sz="1400" dirty="0">
                <a:solidFill>
                  <a:schemeClr val="accent6"/>
                </a:solidFill>
              </a:rPr>
              <a:t>Questions and live demo: club.flux.co.tz</a:t>
            </a:r>
            <a:endParaRPr lang="en-US" sz="1400" dirty="0"/>
          </a:p>
        </p:txBody>
      </p:sp>
      <p:pic>
        <p:nvPicPr>
          <p:cNvPr id="5" name="Quizzes screen" descr="Quizzes screen">    </p:cNvPr>
          <p:cNvPicPr>
            <a:picLocks noChangeAspect="1"/>
          </p:cNvPicPr>
          <p:nvPr/>
        </p:nvPicPr>
        <p:blipFill>
          <a:blip r:embed="rId1"/>
          <a:stretch>
            <a:fillRect/>
          </a:stretch>
        </p:blipFill>
        <p:spPr>
          <a:xfrm>
            <a:off x="7909560" y="502920"/>
            <a:ext cx="2977673" cy="5852160"/>
          </a:xfrm>
          <a:prstGeom prst="rect">
            <a:avLst/>
          </a:prstGeom>
        </p:spPr>
      </p:pic>
    </p:spTree>
  </p:cSld>
  <p:clrMapOvr>
    <a:masterClrMapping/>
  </p:clrMapOvr>
</p:sld>
</file>

<file path=ppt/theme/theme1.xml><?xml version="1.0" encoding="utf-8"?>
<a:theme xmlns:a="http://schemas.openxmlformats.org/drawingml/2006/main" name="TRA Tax Club">
  <a:themeElements>
    <a:clrScheme name="TRA Tax Club">
      <a:dk1>
        <a:srgbClr val="111111"/>
      </a:dk1>
      <a:lt1>
        <a:srgbClr val="FFFFFF"/>
      </a:lt1>
      <a:dk2>
        <a:srgbClr val="4B5563"/>
      </a:dk2>
      <a:lt2>
        <a:srgbClr val="F4F4F1"/>
      </a:lt2>
      <a:accent1>
        <a:srgbClr val="F9E50F"/>
      </a:accent1>
      <a:accent2>
        <a:srgbClr val="111111"/>
      </a:accent2>
      <a:accent3>
        <a:srgbClr val="15803D"/>
      </a:accent3>
      <a:accent4>
        <a:srgbClr val="B42318"/>
      </a:accent4>
      <a:accent5>
        <a:srgbClr val="1D4ED8"/>
      </a:accent5>
      <a:accent6>
        <a:srgbClr val="9CA3AF"/>
      </a:accent6>
      <a:hlink>
        <a:srgbClr val="1D4ED8"/>
      </a:hlink>
      <a:folHlink>
        <a:srgbClr val="4B5563"/>
      </a:folHlink>
    </a:clrScheme>
    <a:fontScheme name="TRA Tax Club">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Tanzania Revenue Authority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TRA Tax Club Digital Platform</dc:title>
  <dc:subject>PptxGenJS Presentation</dc:subject>
  <dc:creator>TRA Tax Club Programme</dc:creator>
  <cp:lastModifiedBy>TRA Tax Club Programme</cp:lastModifiedBy>
  <cp:revision>1</cp:revision>
  <dcterms:created xsi:type="dcterms:W3CDTF">2026-10-28T08:34:36Z</dcterms:created>
  <dcterms:modified xsi:type="dcterms:W3CDTF">2026-10-28T08:34:36Z</dcterms:modified>
</cp:coreProperties>
</file>